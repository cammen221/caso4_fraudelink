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5" r:id="rId16"/>
    <p:sldId id="274" r:id="rId17"/>
    <p:sldId id="276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25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1 · 1:10. Abrir con la idea: el fraude potencial puede ocultarse en las conexiones, no en una sola operación. Presentar al equipo y aclarar que FraudeLink es un prototipo experimental.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1 · 1:10. Explicar por qué revisar montos y fechas aisladamente puede perder señales relacionales. No atribuir tasas de fraude o pérdidas no medidas.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1 · 1:10. Recorrer visualmente el grafo: cliente, cuentas, recursos y patrones. El valor es la trazabilidad de las conexiones, no una predicción validada.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2 · 1:10. Cifras del paper: 12 500 nodos y 66 007 relaciones generadas. Diferenciar generado de efectivamente cargado; existe discrepancia documental sobre relaciones almacenadas.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2 · 1:15. Describir el flujo reportado: R, archivos CSV, importación con Python, Neo4j y consultas con Cypher/GDS. Las versiones concretas deben contrastarse con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2 · 1:20. Citar los valores del paper: DIS00771 (14 clientes), IP 10.0.0.79 (19) y 47 parejas con dispositivo e IP compartidos. Explicar posibles usos legítimos.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3 · 1:20. Explicar los ciclos de 3 y 4 saltos introducidos en los datos sintéticos. Se evaluaron orden temporal y reducciones de monto. No afirmar sensibilidad ni especificidad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3 · 1:10. Presentar tres cuentas y sus puntajes reportados. Explicar que PageRank mide relevancia estructural, no probabilidad de fraude.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3 · 1:15. Presentar las comunidades de 412, 359 y 326 cuentas. La proyección reportada considera transferencias sin dirección para estudiar conectividad.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4 · 1:15. Explicar el puntaje heurístico. En el documento la puntuación de la señal de ciclos no está especificada y hay un intervalo sin clasificar; no presentar el score como modelo calibrado.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4 · 1:10. Describir valor potencial, evitando prometer ahorros, reducción de pérdidas o precisión que no se han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4 · 1:15. Proponer piloto como siguiente etapa, no como compromiso contractual. Definir métricas y gobierno de datos con la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5 · 1:10. Presentar límites como señal de rigor. No esconder la necesidad de validación con datos reales y controles de privacidad.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C493B-2C35-00AF-2855-A1517EBA6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1B8DF-CB9B-92A0-A027-82D6A0092F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8F2CB-D837-2D0D-AB28-94682F91C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5 · 1:10. Presentar límites como señal de rigor. No esconder la necesidad de validación con datos reales y controles de privacidad.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71BE3-3446-B42A-5E08-F53FCBEC3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626918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BAF92-4F37-A0A2-CD34-6B2BF383B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F9A94-3D31-B87F-006D-E419B9E507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F66B2-0B7B-EE23-B443-74B6A0823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5 · 1:10. Presentar límites como señal de rigor. No esconder la necesidad de validación con datos reales y controles de privacidad.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532D2-54D0-5B69-DE1D-F41DB1775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720857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5381-4B51-A864-6486-3CF5CEF62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60C6C-59F8-A7A7-E84E-F4EC488DEE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CAADD-5596-FBD9-B28C-29526CC10C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5 · 1:10. Presentar límites como señal de rigor. No esconder la necesidad de validación con datos reales y controles de privacidad.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6A432-1E3A-8128-6325-B1B2AD8E7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571492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70B49-DF4C-F608-C32D-CF93A73BC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B9154-0E76-64B0-44CA-B82367926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BCE42-20CD-B432-AB55-894D6CD93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5 · 1:10. Presentar límites como señal de rigor. No esconder la necesidad de validación con datos reales y controles de privacidad.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41830-851F-54BD-8582-1559A76D5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227280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5 · 1:10. Mensaje competitivo: trazabilidad y explicabilidad. Evitar afirmar que ya supera otras soluciones. Invitar a evaluación comparativa.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Expositor 5 · 1:00. Cerrar con invitación a seleccionar el proyecto para una fase de validación piloto. Agradecer y abrir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textur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01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FRAUDELINK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La red revela lo que una transacción aislada no muestra.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23160"/>
            <a:ext cx="6492240" cy="150876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33472"/>
            <a:ext cx="5943600" cy="10789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F5FAFF"/>
                </a:solidFill>
                <a:latin typeface="Aptos"/>
              </a:defRPr>
            </a:pPr>
            <a:r>
              <a:t>RIESGO FINANCIERO,</a:t>
            </a:r>
          </a:p>
          <a:p>
            <a:pPr>
              <a:spcAft>
                <a:spcPts val="400"/>
              </a:spcAft>
              <a:defRPr sz="2900" b="1">
                <a:solidFill>
                  <a:srgbClr val="F5FAFF"/>
                </a:solidFill>
                <a:latin typeface="Aptos"/>
              </a:defRPr>
            </a:pPr>
            <a:r>
              <a:t>VISTO COMO UNA RED.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412480" y="1828800"/>
            <a:ext cx="1280160" cy="3657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92640" y="1828800"/>
            <a:ext cx="1005840" cy="91440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412480" y="2194560"/>
            <a:ext cx="731520" cy="12801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44000" y="3474720"/>
            <a:ext cx="1645920" cy="77724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955279" y="3474720"/>
            <a:ext cx="1188721" cy="8229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784080" y="4251960"/>
            <a:ext cx="1005840" cy="68580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698480" y="2743200"/>
            <a:ext cx="91440" cy="15087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955279" y="4297680"/>
            <a:ext cx="1828801" cy="64008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84463" y="2066543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71331" y="215341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64624" y="1700784"/>
            <a:ext cx="256032" cy="256032"/>
          </a:xfrm>
          <a:prstGeom prst="ellipse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51492" y="178765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70463" y="2615184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657332" y="270205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015984" y="3346703"/>
            <a:ext cx="256032" cy="256032"/>
          </a:xfrm>
          <a:prstGeom prst="ellipse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02852" y="343357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61904" y="4123944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48772" y="421081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827263" y="4169664"/>
            <a:ext cx="256032" cy="256032"/>
          </a:xfrm>
          <a:prstGeom prst="ellipse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914131" y="425653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56063" y="4809744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742932" y="489661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4608576"/>
            <a:ext cx="274320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0D6E7"/>
                </a:solidFill>
                <a:latin typeface="Aptos"/>
              </a:defRPr>
            </a:pPr>
            <a:r>
              <a:t>Equipo de proyecto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020056"/>
            <a:ext cx="10607040" cy="10241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5FAFF"/>
                </a:solidFill>
                <a:latin typeface="Aptos"/>
              </a:defRPr>
            </a:pPr>
            <a:r>
              <a:t>Laura Obando Esquivel · Camila Mendoza Ramírez · Jimena Ramírez Zamora · Alex Díaz Sancho · Fabián Almirall Marchena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xtur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EL DESAFÍO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02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El riesgo no siempre es 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Una operación puede parecer normal hasta que se observa su contexto.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3474720" cy="315468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377440"/>
            <a:ext cx="50292" cy="315468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3108960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t>01  Señales dispersas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63824"/>
            <a:ext cx="3017520" cy="21945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Clientes, cuentas, dispositivos, IP y comercios aparecen en fuentes diferentes.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377440"/>
            <a:ext cx="3474720" cy="315468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61688" y="2377440"/>
            <a:ext cx="50292" cy="3154680"/>
          </a:xfrm>
          <a:prstGeom prst="rect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2560320"/>
            <a:ext cx="3108960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t>02  Vínculos ocultos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163824"/>
            <a:ext cx="3017520" cy="21945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Una misma infraestructura puede conectar cuentas aparentemente independientes.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377440"/>
            <a:ext cx="3474720" cy="315468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83296" y="2377440"/>
            <a:ext cx="50292" cy="3154680"/>
          </a:xfrm>
          <a:prstGeom prst="rect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1896" y="2560320"/>
            <a:ext cx="3108960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t>03  Investigación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163824"/>
            <a:ext cx="3017520" cy="21945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Se necesitan recorridos y patrones para orientar una revisión informada.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textur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LA OPORTUNIDAD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03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De registros aislados a contexto conectado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Una única representación permite investigar entidades y relaciones.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828800" y="2331720"/>
            <a:ext cx="2103120" cy="5943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0" y="2926080"/>
            <a:ext cx="2148839" cy="86868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931920" y="2286000"/>
            <a:ext cx="2468880" cy="4572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77639" y="3794760"/>
            <a:ext cx="2423161" cy="4572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00800" y="2286000"/>
            <a:ext cx="2331720" cy="73152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400800" y="3017520"/>
            <a:ext cx="2331720" cy="8229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931920" y="2331720"/>
            <a:ext cx="2468880" cy="15087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700784" y="2798064"/>
            <a:ext cx="256032" cy="256032"/>
          </a:xfrm>
          <a:prstGeom prst="ellipse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787652" y="288493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803904" y="2203703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890772" y="229057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49624" y="3666744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936491" y="375361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272784" y="2157984"/>
            <a:ext cx="256032" cy="256032"/>
          </a:xfrm>
          <a:prstGeom prst="ellipse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59652" y="224485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272784" y="3712464"/>
            <a:ext cx="256032" cy="256032"/>
          </a:xfrm>
          <a:prstGeom prst="ellipse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59652" y="379933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604504" y="2889503"/>
            <a:ext cx="256032" cy="256032"/>
          </a:xfrm>
          <a:prstGeom prst="ellipse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691372" y="297637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3291840"/>
            <a:ext cx="118872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AFC3D6"/>
                </a:solidFill>
                <a:latin typeface="Aptos"/>
              </a:defRPr>
            </a:pPr>
            <a:r>
              <a:t>CLIENTE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251960"/>
            <a:ext cx="18288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AFC3D6"/>
                </a:solidFill>
                <a:latin typeface="Aptos"/>
              </a:defRPr>
            </a:pPr>
            <a:r>
              <a:t>CUENTAS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4343400"/>
            <a:ext cx="27432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AFC3D6"/>
                </a:solidFill>
                <a:latin typeface="Aptos"/>
              </a:defRPr>
            </a:pPr>
            <a:r>
              <a:t>RECURSOS COMPARTIDOS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429000"/>
            <a:ext cx="18288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AFC3D6"/>
                </a:solidFill>
                <a:latin typeface="Aptos"/>
              </a:defRPr>
            </a:pPr>
            <a:r>
              <a:t>PATRONES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textur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ALCANCE DEL PROTOTIPO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04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rPr lang="en-US" sz="3400" b="1" dirty="0">
                <a:solidFill>
                  <a:srgbClr val="F5FAFF"/>
                </a:solidFill>
                <a:latin typeface="Aptos"/>
              </a:rPr>
              <a:t>De </a:t>
            </a: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los</a:t>
            </a:r>
            <a:r>
              <a:rPr lang="en-US" sz="3400" b="1" dirty="0">
                <a:solidFill>
                  <a:srgbClr val="F5FAFF"/>
                </a:solidFill>
                <a:latin typeface="Aptos"/>
              </a:rPr>
              <a:t> </a:t>
            </a: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datos</a:t>
            </a:r>
            <a:r>
              <a:rPr lang="en-US" sz="3400" b="1" dirty="0">
                <a:solidFill>
                  <a:srgbClr val="F5FAFF"/>
                </a:solidFill>
                <a:latin typeface="Aptos"/>
              </a:rPr>
              <a:t> a </a:t>
            </a: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una</a:t>
            </a:r>
            <a:r>
              <a:rPr lang="en-US" sz="3400" b="1" dirty="0">
                <a:solidFill>
                  <a:srgbClr val="F5FAFF"/>
                </a:solidFill>
                <a:latin typeface="Aptos"/>
              </a:rPr>
              <a:t> red de </a:t>
            </a: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conexiones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Datos generados de forma reproducible para evaluar el modelo.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77440"/>
            <a:ext cx="3429000" cy="228600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79192"/>
            <a:ext cx="3063240" cy="7498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4100" b="1">
                <a:solidFill>
                  <a:srgbClr val="20D6E7"/>
                </a:solidFill>
                <a:latin typeface="Aptos"/>
              </a:defRPr>
            </a:pPr>
            <a:r>
              <a:t>12 500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301752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5FAFF"/>
                </a:solidFill>
                <a:latin typeface="Aptos"/>
              </a:defRPr>
            </a:pPr>
            <a:r>
              <a:t>NODOS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377440"/>
            <a:ext cx="3429000" cy="228600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679192"/>
            <a:ext cx="3063240" cy="7498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4100" b="1">
                <a:solidFill>
                  <a:srgbClr val="F263A5"/>
                </a:solidFill>
                <a:latin typeface="Aptos"/>
              </a:defRPr>
            </a:pPr>
            <a:r>
              <a:t>66 007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703320"/>
            <a:ext cx="301752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5FAFF"/>
                </a:solidFill>
                <a:latin typeface="Aptos"/>
              </a:defRPr>
            </a:pPr>
            <a:r>
              <a:t>RELACIONES GENERADAS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377440"/>
            <a:ext cx="3429000" cy="228600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679192"/>
            <a:ext cx="3063240" cy="7498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4100" b="1">
                <a:solidFill>
                  <a:srgbClr val="FFBF6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703320"/>
            <a:ext cx="301752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5FAFF"/>
                </a:solidFill>
                <a:latin typeface="Aptos"/>
              </a:defRPr>
            </a:pPr>
            <a:r>
              <a:t>ARCHIVOS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38928"/>
            <a:ext cx="10058400" cy="43891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700" b="0">
                <a:solidFill>
                  <a:srgbClr val="AFC3D6"/>
                </a:solidFill>
                <a:latin typeface="Aptos"/>
              </a:defRPr>
            </a:pPr>
            <a:r>
              <a:t>5 tipos de nodos  •  5 tipos de relaciones  •  Semilla fija en 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textur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05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Importación</a:t>
            </a:r>
            <a:r>
              <a:rPr lang="en-US" sz="3400" b="1" dirty="0">
                <a:solidFill>
                  <a:srgbClr val="F5FAFF"/>
                </a:solidFill>
                <a:latin typeface="Aptos"/>
              </a:rPr>
              <a:t> y </a:t>
            </a: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construcción</a:t>
            </a:r>
            <a:r>
              <a:rPr lang="en-US" sz="3400" b="1" dirty="0">
                <a:solidFill>
                  <a:srgbClr val="F5FAFF"/>
                </a:solidFill>
                <a:latin typeface="Aptos"/>
              </a:rPr>
              <a:t> del </a:t>
            </a: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grafo</a:t>
            </a:r>
            <a:r>
              <a:rPr lang="en-US" sz="3400" b="1" dirty="0">
                <a:solidFill>
                  <a:srgbClr val="F5FAFF"/>
                </a:solidFill>
                <a:latin typeface="Aptos"/>
              </a:rPr>
              <a:t> </a:t>
            </a: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en</a:t>
            </a:r>
            <a:r>
              <a:rPr lang="en-US" sz="3400" b="1" dirty="0">
                <a:solidFill>
                  <a:srgbClr val="F5FAFF"/>
                </a:solidFill>
                <a:latin typeface="Aptos"/>
              </a:rPr>
              <a:t> Neo4j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66928" y="1572768"/>
            <a:ext cx="10881360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rPr lang="en-US" sz="1600" dirty="0" err="1">
                <a:solidFill>
                  <a:srgbClr val="AFC3D6"/>
                </a:solidFill>
                <a:latin typeface="Aptos"/>
              </a:rPr>
              <a:t>Proceso</a:t>
            </a:r>
            <a:r>
              <a:rPr lang="en-US" sz="1600" dirty="0">
                <a:solidFill>
                  <a:srgbClr val="AFC3D6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AFC3D6"/>
                </a:solidFill>
                <a:latin typeface="Aptos"/>
              </a:rPr>
              <a:t>automatizado</a:t>
            </a:r>
            <a:r>
              <a:rPr lang="en-US" sz="1600" dirty="0">
                <a:solidFill>
                  <a:srgbClr val="AFC3D6"/>
                </a:solidFill>
                <a:latin typeface="Aptos"/>
              </a:rPr>
              <a:t> para </a:t>
            </a:r>
            <a:r>
              <a:rPr lang="en-US" sz="1600" dirty="0" err="1">
                <a:solidFill>
                  <a:srgbClr val="AFC3D6"/>
                </a:solidFill>
                <a:latin typeface="Aptos"/>
              </a:rPr>
              <a:t>transformar</a:t>
            </a:r>
            <a:r>
              <a:rPr lang="en-US" sz="1600" dirty="0">
                <a:solidFill>
                  <a:srgbClr val="AFC3D6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AFC3D6"/>
                </a:solidFill>
                <a:latin typeface="Aptos"/>
              </a:rPr>
              <a:t>los</a:t>
            </a:r>
            <a:r>
              <a:rPr lang="en-US" sz="1600" dirty="0">
                <a:solidFill>
                  <a:srgbClr val="AFC3D6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AFC3D6"/>
                </a:solidFill>
                <a:latin typeface="Aptos"/>
              </a:rPr>
              <a:t>datos</a:t>
            </a:r>
            <a:r>
              <a:rPr lang="en-US" sz="1600" dirty="0">
                <a:solidFill>
                  <a:srgbClr val="AFC3D6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AFC3D6"/>
                </a:solidFill>
                <a:latin typeface="Aptos"/>
              </a:rPr>
              <a:t>en</a:t>
            </a:r>
            <a:r>
              <a:rPr lang="en-US" sz="1600" dirty="0">
                <a:solidFill>
                  <a:srgbClr val="AFC3D6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AFC3D6"/>
                </a:solidFill>
                <a:latin typeface="Aptos"/>
              </a:rPr>
              <a:t>nodos</a:t>
            </a:r>
            <a:r>
              <a:rPr lang="en-US" sz="1600" dirty="0">
                <a:solidFill>
                  <a:srgbClr val="AFC3D6"/>
                </a:solidFill>
                <a:latin typeface="Aptos"/>
              </a:rPr>
              <a:t> y </a:t>
            </a:r>
            <a:r>
              <a:rPr lang="en-US" sz="1600" dirty="0" err="1">
                <a:solidFill>
                  <a:srgbClr val="AFC3D6"/>
                </a:solidFill>
                <a:latin typeface="Aptos"/>
              </a:rPr>
              <a:t>relaciones</a:t>
            </a:r>
            <a:r>
              <a:rPr lang="en-US" sz="1600" dirty="0">
                <a:solidFill>
                  <a:srgbClr val="AFC3D6"/>
                </a:solidFill>
                <a:latin typeface="Aptos"/>
              </a:rPr>
              <a:t>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2606040" cy="251460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715768"/>
            <a:ext cx="64008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0D6E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18688"/>
            <a:ext cx="233172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867912"/>
            <a:ext cx="2286000" cy="43088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rPr dirty="0"/>
              <a:t>Generación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dirty="0"/>
              <a:t> </a:t>
            </a:r>
            <a:r>
              <a:rPr dirty="0" err="1"/>
              <a:t>sintétic</a:t>
            </a:r>
            <a:r>
              <a:rPr lang="en-US" dirty="0" err="1"/>
              <a:t>os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291839" y="3383280"/>
            <a:ext cx="32004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20D6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2487168"/>
            <a:ext cx="2606040" cy="251460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30752" y="2715768"/>
            <a:ext cx="64008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0D6E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218688"/>
            <a:ext cx="2331720" cy="35394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rPr dirty="0"/>
              <a:t>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7892" y="3867912"/>
            <a:ext cx="2286000" cy="43088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rPr lang="en-US" sz="1400" dirty="0" err="1">
                <a:solidFill>
                  <a:srgbClr val="AFC3D6"/>
                </a:solidFill>
                <a:latin typeface="Aptos"/>
              </a:rPr>
              <a:t>Archivos</a:t>
            </a:r>
            <a:r>
              <a:rPr lang="en-US" sz="1400" dirty="0">
                <a:solidFill>
                  <a:srgbClr val="AFC3D6"/>
                </a:solidFill>
                <a:latin typeface="Aptos"/>
              </a:rPr>
              <a:t> de </a:t>
            </a:r>
            <a:r>
              <a:rPr lang="en-US" sz="1400" dirty="0" err="1">
                <a:solidFill>
                  <a:srgbClr val="AFC3D6"/>
                </a:solidFill>
                <a:latin typeface="Aptos"/>
              </a:rPr>
              <a:t>nodos</a:t>
            </a:r>
            <a:r>
              <a:rPr lang="en-US" sz="1400" dirty="0">
                <a:solidFill>
                  <a:srgbClr val="AFC3D6"/>
                </a:solidFill>
                <a:latin typeface="Aptos"/>
              </a:rPr>
              <a:t> y </a:t>
            </a:r>
            <a:r>
              <a:rPr lang="en-US" sz="1400" dirty="0" err="1">
                <a:solidFill>
                  <a:srgbClr val="AFC3D6"/>
                </a:solidFill>
                <a:latin typeface="Aptos"/>
              </a:rPr>
              <a:t>relaciones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199631" y="3383280"/>
            <a:ext cx="32004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20D6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55664" y="2487168"/>
            <a:ext cx="2606040" cy="251460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38544" y="2715768"/>
            <a:ext cx="64008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0D6E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3218688"/>
            <a:ext cx="2331720" cy="35394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rPr lang="en-US" dirty="0" err="1"/>
              <a:t>Pyhton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615683" y="3712464"/>
            <a:ext cx="2286000" cy="86177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rPr lang="en-US" sz="1400" dirty="0" err="1">
                <a:solidFill>
                  <a:srgbClr val="AFC3D6"/>
                </a:solidFill>
                <a:latin typeface="Aptos"/>
              </a:rPr>
              <a:t>Importación</a:t>
            </a:r>
            <a:r>
              <a:rPr lang="en-US" sz="1400" dirty="0">
                <a:solidFill>
                  <a:srgbClr val="AFC3D6"/>
                </a:solidFill>
                <a:latin typeface="Aptos"/>
              </a:rPr>
              <a:t> </a:t>
            </a:r>
            <a:r>
              <a:rPr lang="en-US" sz="1400" dirty="0" err="1">
                <a:solidFill>
                  <a:srgbClr val="AFC3D6"/>
                </a:solidFill>
                <a:latin typeface="Aptos"/>
              </a:rPr>
              <a:t>automática</a:t>
            </a:r>
            <a:r>
              <a:rPr lang="en-US" sz="1400" dirty="0">
                <a:solidFill>
                  <a:srgbClr val="AFC3D6"/>
                </a:solidFill>
                <a:latin typeface="Aptos"/>
              </a:rPr>
              <a:t>, </a:t>
            </a:r>
            <a:r>
              <a:rPr lang="en-US" sz="1400" dirty="0" err="1">
                <a:solidFill>
                  <a:srgbClr val="AFC3D6"/>
                </a:solidFill>
                <a:latin typeface="Aptos"/>
              </a:rPr>
              <a:t>restricciones</a:t>
            </a:r>
            <a:r>
              <a:rPr lang="en-US" sz="1400" dirty="0">
                <a:solidFill>
                  <a:srgbClr val="AFC3D6"/>
                </a:solidFill>
                <a:latin typeface="Aptos"/>
              </a:rPr>
              <a:t> de </a:t>
            </a:r>
            <a:r>
              <a:rPr lang="en-US" sz="1400" dirty="0" err="1">
                <a:solidFill>
                  <a:srgbClr val="AFC3D6"/>
                </a:solidFill>
                <a:latin typeface="Aptos"/>
              </a:rPr>
              <a:t>unicidad</a:t>
            </a:r>
            <a:r>
              <a:rPr lang="en-US" sz="1400" dirty="0">
                <a:solidFill>
                  <a:srgbClr val="AFC3D6"/>
                </a:solidFill>
                <a:latin typeface="Aptos"/>
              </a:rPr>
              <a:t> y carga </a:t>
            </a:r>
            <a:r>
              <a:rPr lang="en-US" sz="1400" dirty="0" err="1">
                <a:solidFill>
                  <a:srgbClr val="AFC3D6"/>
                </a:solidFill>
                <a:latin typeface="Aptos"/>
              </a:rPr>
              <a:t>por</a:t>
            </a:r>
            <a:r>
              <a:rPr lang="en-US" sz="1400" dirty="0">
                <a:solidFill>
                  <a:srgbClr val="AFC3D6"/>
                </a:solidFill>
                <a:latin typeface="Aptos"/>
              </a:rPr>
              <a:t> </a:t>
            </a:r>
            <a:r>
              <a:rPr lang="en-US" sz="1400" dirty="0" err="1">
                <a:solidFill>
                  <a:srgbClr val="AFC3D6"/>
                </a:solidFill>
                <a:latin typeface="Aptos"/>
              </a:rPr>
              <a:t>lotes</a:t>
            </a:r>
            <a:r>
              <a:rPr lang="en-US" sz="1400" dirty="0">
                <a:solidFill>
                  <a:srgbClr val="AFC3D6"/>
                </a:solidFill>
                <a:latin typeface="Aptos"/>
              </a:rPr>
              <a:t> de 1.000 </a:t>
            </a:r>
            <a:r>
              <a:rPr lang="en-US" sz="1400" dirty="0" err="1">
                <a:solidFill>
                  <a:srgbClr val="AFC3D6"/>
                </a:solidFill>
                <a:latin typeface="Aptos"/>
              </a:rPr>
              <a:t>registros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9107424" y="3383280"/>
            <a:ext cx="32004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20D6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63456" y="2487168"/>
            <a:ext cx="2606040" cy="251460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46336" y="2715768"/>
            <a:ext cx="640080" cy="4572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0D6E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3218688"/>
            <a:ext cx="2331720" cy="35394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rPr lang="en-US" sz="2300" b="1" dirty="0">
                <a:solidFill>
                  <a:srgbClr val="F5FAFF"/>
                </a:solidFill>
                <a:latin typeface="Aptos"/>
              </a:rPr>
              <a:t>Neo4j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9523476" y="3806470"/>
            <a:ext cx="2286000" cy="64633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rPr lang="en-US" sz="1400" dirty="0" err="1">
                <a:solidFill>
                  <a:srgbClr val="AFC3D6"/>
                </a:solidFill>
                <a:latin typeface="Aptos"/>
              </a:rPr>
              <a:t>Verificación</a:t>
            </a:r>
            <a:r>
              <a:rPr lang="en-US" sz="1400" dirty="0">
                <a:solidFill>
                  <a:srgbClr val="AFC3D6"/>
                </a:solidFill>
                <a:latin typeface="Aptos"/>
              </a:rPr>
              <a:t> de </a:t>
            </a:r>
            <a:r>
              <a:rPr lang="en-US" sz="1400" dirty="0" err="1">
                <a:solidFill>
                  <a:srgbClr val="AFC3D6"/>
                </a:solidFill>
                <a:latin typeface="Aptos"/>
              </a:rPr>
              <a:t>nodos</a:t>
            </a:r>
            <a:r>
              <a:rPr lang="en-US" sz="1400" dirty="0">
                <a:solidFill>
                  <a:srgbClr val="AFC3D6"/>
                </a:solidFill>
                <a:latin typeface="Aptos"/>
              </a:rPr>
              <a:t> y </a:t>
            </a:r>
            <a:r>
              <a:rPr lang="en-US" sz="1400" dirty="0" err="1">
                <a:solidFill>
                  <a:srgbClr val="AFC3D6"/>
                </a:solidFill>
                <a:latin typeface="Aptos"/>
              </a:rPr>
              <a:t>relaciones</a:t>
            </a:r>
            <a:r>
              <a:rPr lang="en-US" sz="1400" dirty="0">
                <a:solidFill>
                  <a:srgbClr val="AFC3D6"/>
                </a:solidFill>
                <a:latin typeface="Aptos"/>
              </a:rPr>
              <a:t>. </a:t>
            </a:r>
            <a:r>
              <a:rPr lang="en-US" sz="1400" dirty="0" err="1">
                <a:solidFill>
                  <a:srgbClr val="AFC3D6"/>
                </a:solidFill>
                <a:latin typeface="Aptos"/>
              </a:rPr>
              <a:t>Grafo</a:t>
            </a:r>
            <a:r>
              <a:rPr lang="en-US" sz="1400" dirty="0">
                <a:solidFill>
                  <a:srgbClr val="AFC3D6"/>
                </a:solidFill>
                <a:latin typeface="Aptos"/>
              </a:rPr>
              <a:t> </a:t>
            </a:r>
            <a:r>
              <a:rPr lang="en-US" sz="1400" dirty="0" err="1">
                <a:solidFill>
                  <a:srgbClr val="AFC3D6"/>
                </a:solidFill>
                <a:latin typeface="Aptos"/>
              </a:rPr>
              <a:t>listo</a:t>
            </a:r>
            <a:r>
              <a:rPr lang="en-US" sz="1400" dirty="0">
                <a:solidFill>
                  <a:srgbClr val="AFC3D6"/>
                </a:solidFill>
                <a:latin typeface="Aptos"/>
              </a:rPr>
              <a:t> para el </a:t>
            </a:r>
            <a:r>
              <a:rPr lang="en-US" sz="1400" dirty="0" err="1">
                <a:solidFill>
                  <a:srgbClr val="AFC3D6"/>
                </a:solidFill>
                <a:latin typeface="Aptos"/>
              </a:rPr>
              <a:t>análisis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textur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SEÑAL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06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Identidades que comparten infraestructura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Dispositivos e IP permiten descubrir conexiones entre cuentas.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67712"/>
            <a:ext cx="3200400" cy="274320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606040"/>
            <a:ext cx="2743200" cy="8412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5000" b="1">
                <a:solidFill>
                  <a:srgbClr val="20D6E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94176"/>
            <a:ext cx="2697480" cy="1005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F5FAFF"/>
                </a:solidFill>
                <a:latin typeface="Aptos"/>
              </a:defRPr>
            </a:pPr>
            <a:r>
              <a:t>clientes por dispositivo más compartido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267712"/>
            <a:ext cx="3200400" cy="274320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606040"/>
            <a:ext cx="2743200" cy="8412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5000" b="1">
                <a:solidFill>
                  <a:srgbClr val="F263A5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94176"/>
            <a:ext cx="2697480" cy="1005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F5FAFF"/>
                </a:solidFill>
                <a:latin typeface="Aptos"/>
              </a:defRPr>
            </a:pPr>
            <a:r>
              <a:t>clientes por IP más compartida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267712"/>
            <a:ext cx="3200400" cy="274320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2606040"/>
            <a:ext cx="2743200" cy="8412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5000" b="1">
                <a:solidFill>
                  <a:srgbClr val="FFBF66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94176"/>
            <a:ext cx="2697480" cy="1005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F5FAFF"/>
                </a:solidFill>
                <a:latin typeface="Aptos"/>
              </a:defRPr>
            </a:pPr>
            <a:r>
              <a:t>parejas que comparten ambos recursos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9966960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Compartir recursos es una señal de análisis, no una prueba de fraude.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textur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SEÑAL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07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El dinero puede dibujar un ciclo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Se insertaron dos ciclos conocidos para comprobar las consultas.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920240" y="2377440"/>
            <a:ext cx="2194560" cy="3657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154680" y="2377440"/>
            <a:ext cx="960120" cy="201168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920240" y="2743200"/>
            <a:ext cx="1234440" cy="164592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792224" y="2615184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79092" y="270205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986784" y="2249424"/>
            <a:ext cx="256032" cy="256032"/>
          </a:xfrm>
          <a:prstGeom prst="ellipse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73652" y="233629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026664" y="4261104"/>
            <a:ext cx="256032" cy="256032"/>
          </a:xfrm>
          <a:prstGeom prst="ellipse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113532" y="434797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7315200" y="2286000"/>
            <a:ext cx="1828800" cy="13716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0" y="2286000"/>
            <a:ext cx="1005840" cy="1463039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818120" y="3749039"/>
            <a:ext cx="2331720" cy="731521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7315200" y="2423160"/>
            <a:ext cx="502920" cy="2057400"/>
          </a:xfrm>
          <a:prstGeom prst="line">
            <a:avLst/>
          </a:prstGeom>
          <a:ln w="25400">
            <a:solidFill>
              <a:srgbClr val="2D7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187184" y="2295144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274052" y="238201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015984" y="2157984"/>
            <a:ext cx="256032" cy="256032"/>
          </a:xfrm>
          <a:prstGeom prst="ellipse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02852" y="224485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021824" y="3621023"/>
            <a:ext cx="256032" cy="256032"/>
          </a:xfrm>
          <a:prstGeom prst="ellipse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108692" y="3707891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690104" y="4352544"/>
            <a:ext cx="256032" cy="256032"/>
          </a:xfrm>
          <a:prstGeom prst="ellipse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776972" y="4439412"/>
            <a:ext cx="82296" cy="82296"/>
          </a:xfrm>
          <a:prstGeom prst="ellipse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88720" y="5120640"/>
            <a:ext cx="4023360" cy="3474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5FAFF"/>
                </a:solidFill>
                <a:latin typeface="Aptos"/>
              </a:defRPr>
            </a:pPr>
            <a:r>
              <a:t>CICLO DE 3 TRANSFERENCIAS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120640"/>
            <a:ext cx="4114800" cy="3474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5FAFF"/>
                </a:solidFill>
                <a:latin typeface="Aptos"/>
              </a:defRPr>
            </a:pPr>
            <a:r>
              <a:t>CICLO DE 4 TRANSFERENCIAS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textur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SEÑAL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08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PageRank: identificar nodos relevantes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08761"/>
            <a:ext cx="10881360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rPr lang="en-US" sz="1600" dirty="0" err="1">
                <a:solidFill>
                  <a:srgbClr val="AFC3D6"/>
                </a:solidFill>
                <a:latin typeface="Aptos"/>
              </a:rPr>
              <a:t>Análisis</a:t>
            </a:r>
            <a:r>
              <a:rPr lang="en-US" sz="1600" dirty="0">
                <a:solidFill>
                  <a:srgbClr val="AFC3D6"/>
                </a:solidFill>
                <a:latin typeface="Aptos"/>
              </a:rPr>
              <a:t> de </a:t>
            </a:r>
            <a:r>
              <a:rPr lang="en-US" sz="1600" dirty="0" err="1">
                <a:solidFill>
                  <a:srgbClr val="AFC3D6"/>
                </a:solidFill>
                <a:latin typeface="Aptos"/>
              </a:rPr>
              <a:t>centralidad</a:t>
            </a:r>
            <a:r>
              <a:rPr lang="en-US" sz="1600" dirty="0">
                <a:solidFill>
                  <a:srgbClr val="AFC3D6"/>
                </a:solidFill>
                <a:latin typeface="Aptos"/>
              </a:rPr>
              <a:t> para </a:t>
            </a:r>
            <a:r>
              <a:rPr lang="en-US" sz="1600" dirty="0" err="1">
                <a:solidFill>
                  <a:srgbClr val="AFC3D6"/>
                </a:solidFill>
                <a:latin typeface="Aptos"/>
              </a:rPr>
              <a:t>identificar</a:t>
            </a:r>
            <a:r>
              <a:rPr lang="en-US" sz="1600" dirty="0">
                <a:solidFill>
                  <a:srgbClr val="AFC3D6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AFC3D6"/>
                </a:solidFill>
                <a:latin typeface="Aptos"/>
              </a:rPr>
              <a:t>cuentas</a:t>
            </a:r>
            <a:r>
              <a:rPr lang="en-US" sz="1600" dirty="0">
                <a:solidFill>
                  <a:srgbClr val="AFC3D6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AFC3D6"/>
                </a:solidFill>
                <a:latin typeface="Aptos"/>
              </a:rPr>
              <a:t>relevantes</a:t>
            </a:r>
            <a:r>
              <a:rPr lang="en-US" sz="1600" dirty="0">
                <a:solidFill>
                  <a:srgbClr val="AFC3D6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AFC3D6"/>
                </a:solidFill>
                <a:latin typeface="Aptos"/>
              </a:rPr>
              <a:t>dentro</a:t>
            </a:r>
            <a:r>
              <a:rPr lang="en-US" sz="1600" dirty="0">
                <a:solidFill>
                  <a:srgbClr val="AFC3D6"/>
                </a:solidFill>
                <a:latin typeface="Aptos"/>
              </a:rPr>
              <a:t> de la red.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5212080" cy="283464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50292" cy="283464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4846320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t>CUENTAS DESTACADAS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4754880" cy="1874519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CTA00235  ·  0,82</a:t>
            </a:r>
          </a:p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CTA03424  ·  0,79</a:t>
            </a:r>
          </a:p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CTA03050  ·  0,72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68880"/>
            <a:ext cx="5212080" cy="283464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468880"/>
            <a:ext cx="50292" cy="2834640"/>
          </a:xfrm>
          <a:prstGeom prst="rect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651760"/>
            <a:ext cx="4846320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t>INTERPRETACIÓN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55264"/>
            <a:ext cx="4754880" cy="160043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 PageRank alto indica </a:t>
            </a:r>
            <a:r>
              <a:rPr lang="en-US" dirty="0" err="1">
                <a:solidFill>
                  <a:schemeClr val="bg1"/>
                </a:solidFill>
              </a:rPr>
              <a:t>que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cuenta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tiene</a:t>
            </a:r>
            <a:r>
              <a:rPr lang="en-US" dirty="0">
                <a:solidFill>
                  <a:schemeClr val="bg1"/>
                </a:solidFill>
              </a:rPr>
              <a:t> mayor </a:t>
            </a:r>
            <a:r>
              <a:rPr lang="en-US" dirty="0" err="1">
                <a:solidFill>
                  <a:schemeClr val="bg1"/>
                </a:solidFill>
              </a:rPr>
              <a:t>relevancia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dentro</a:t>
            </a:r>
            <a:r>
              <a:rPr lang="en-US" dirty="0">
                <a:solidFill>
                  <a:schemeClr val="bg1"/>
                </a:solidFill>
              </a:rPr>
              <a:t> de la red de </a:t>
            </a:r>
            <a:r>
              <a:rPr lang="en-US" dirty="0" err="1">
                <a:solidFill>
                  <a:schemeClr val="bg1"/>
                </a:solidFill>
              </a:rPr>
              <a:t>conexiones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 err="1">
                <a:solidFill>
                  <a:schemeClr val="bg1"/>
                </a:solidFill>
              </a:rPr>
              <a:t>Aplicación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FraudeLink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permite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priorizar</a:t>
            </a:r>
            <a:r>
              <a:rPr lang="en-US" dirty="0">
                <a:solidFill>
                  <a:schemeClr val="bg1"/>
                </a:solidFill>
              </a:rPr>
              <a:t> las </a:t>
            </a:r>
            <a:r>
              <a:rPr lang="en-US" dirty="0" err="1">
                <a:solidFill>
                  <a:schemeClr val="bg1"/>
                </a:solidFill>
              </a:rPr>
              <a:t>cuentas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requieren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investigación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más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detallada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endParaRPr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A78CD86-6DB8-3C8A-FEF2-5638A111B995}"/>
              </a:ext>
            </a:extLst>
          </p:cNvPr>
          <p:cNvSpPr txBox="1"/>
          <p:nvPr/>
        </p:nvSpPr>
        <p:spPr>
          <a:xfrm>
            <a:off x="756666" y="5731502"/>
            <a:ext cx="7820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ptos" panose="020B0004020202020204" pitchFamily="34" charset="0"/>
              </a:rPr>
              <a:t>Algoritmo</a:t>
            </a: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ptos" panose="020B0004020202020204" pitchFamily="34" charset="0"/>
              </a:rPr>
              <a:t>implementado</a:t>
            </a: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</a:rPr>
              <a:t> con Graph Data Science de Neo4j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textur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SEÑAL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09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Louvain: detectar comunidades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Los grupos muestran zonas de conectividad que merecen exploración.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487168"/>
            <a:ext cx="2971800" cy="246888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852928"/>
            <a:ext cx="2377440" cy="7772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4700" b="1">
                <a:solidFill>
                  <a:srgbClr val="20D6E7"/>
                </a:solidFill>
                <a:latin typeface="Aptos"/>
              </a:defRPr>
            </a:pPr>
            <a:r>
              <a:t>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58768"/>
            <a:ext cx="228600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5FAFF"/>
                </a:solidFill>
                <a:latin typeface="Aptos"/>
              </a:defRPr>
            </a:pPr>
            <a:r>
              <a:t>CUENTAS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487168"/>
            <a:ext cx="2971800" cy="246888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59" y="2852928"/>
            <a:ext cx="2377440" cy="7772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4700" b="1">
                <a:solidFill>
                  <a:srgbClr val="F263A5"/>
                </a:solidFill>
                <a:latin typeface="Aptos"/>
              </a:defRPr>
            </a:pPr>
            <a:r>
              <a:t>359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3858768"/>
            <a:ext cx="228600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5FAFF"/>
                </a:solidFill>
                <a:latin typeface="Aptos"/>
              </a:defRPr>
            </a:pPr>
            <a:r>
              <a:t>CUENTAS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487168"/>
            <a:ext cx="2971800" cy="246888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19" y="2852928"/>
            <a:ext cx="2377440" cy="7772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4700" b="1">
                <a:solidFill>
                  <a:srgbClr val="FFBF66"/>
                </a:solidFill>
                <a:latin typeface="Aptos"/>
              </a:defRPr>
            </a:pPr>
            <a:r>
              <a:t>326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3858768"/>
            <a:ext cx="228600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5FAFF"/>
                </a:solidFill>
                <a:latin typeface="Aptos"/>
              </a:defRPr>
            </a:pPr>
            <a:r>
              <a:t>CUENTAS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49240"/>
            <a:ext cx="10241280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Tres comunidades de mayor tamaño reportadas · Agrupamiento ≠ fraude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textur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PRIORIZACIÓN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10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De señales a una revisión dirigida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El puntaje exploratorio combina evidencia estructural y transaccional.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394960" cy="137160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54864" cy="13716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423160"/>
            <a:ext cx="484632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5FAFF"/>
                </a:solidFill>
                <a:latin typeface="Aptos"/>
              </a:defRPr>
            </a:pPr>
            <a:r>
              <a:t>CICLOS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916936"/>
            <a:ext cx="484632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AFC3D6"/>
                </a:solidFill>
                <a:latin typeface="Aptos"/>
              </a:defRPr>
            </a:pPr>
            <a:r>
              <a:t>Secuencias de transferencias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240280"/>
            <a:ext cx="5394960" cy="137160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2240280"/>
            <a:ext cx="54864" cy="1371600"/>
          </a:xfrm>
          <a:prstGeom prst="rect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2423160"/>
            <a:ext cx="484632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5FAFF"/>
                </a:solidFill>
                <a:latin typeface="Aptos"/>
              </a:defRPr>
            </a:pPr>
            <a:r>
              <a:t>DISPOSITIVOS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916936"/>
            <a:ext cx="484632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AFC3D6"/>
                </a:solidFill>
                <a:latin typeface="Aptos"/>
              </a:defRPr>
            </a:pPr>
            <a:r>
              <a:t>Uso compartido entre clientes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5394960" cy="137160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54864" cy="1371600"/>
          </a:xfrm>
          <a:prstGeom prst="rect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4023360"/>
            <a:ext cx="484632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5FAFF"/>
                </a:solidFill>
                <a:latin typeface="Aptos"/>
              </a:defRPr>
            </a:pPr>
            <a:r>
              <a:t>DIRECCIONES 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517136"/>
            <a:ext cx="484632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AFC3D6"/>
                </a:solidFill>
                <a:latin typeface="Aptos"/>
              </a:defRPr>
            </a:pPr>
            <a:r>
              <a:t>Conexiones de red comunes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40480"/>
            <a:ext cx="5394960" cy="1371600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3840480"/>
            <a:ext cx="54864" cy="1371600"/>
          </a:xfrm>
          <a:prstGeom prst="rect">
            <a:avLst/>
          </a:prstGeom>
          <a:solidFill>
            <a:srgbClr val="237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4023360"/>
            <a:ext cx="484632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5FAFF"/>
                </a:solidFill>
                <a:latin typeface="Aptos"/>
              </a:defRPr>
            </a:pPr>
            <a:r>
              <a:t>MONTOS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517136"/>
            <a:ext cx="484632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AFC3D6"/>
                </a:solidFill>
                <a:latin typeface="Aptos"/>
              </a:defRPr>
            </a:pPr>
            <a:r>
              <a:t>Transferencias recientes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xtur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PROPUESTA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11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Qué puede aportar FraudeLink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Beneficios potenciales a validar en un piloto, no resultados medidos.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23160"/>
            <a:ext cx="3520440" cy="2907792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423160"/>
            <a:ext cx="50292" cy="29077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606040"/>
            <a:ext cx="3154680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t>VISIBILIDAD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209544"/>
            <a:ext cx="3063240" cy="19476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Conectar cuentas, titulares y recursos en una sola vista.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2423160"/>
            <a:ext cx="3520440" cy="2907792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52544" y="2423160"/>
            <a:ext cx="50292" cy="2907792"/>
          </a:xfrm>
          <a:prstGeom prst="rect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1144" y="2606040"/>
            <a:ext cx="3154680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t>TRAZABILIDAD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209544"/>
            <a:ext cx="3063240" cy="19476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Explicar por qué dos entidades aparecen relacionadas.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423160"/>
            <a:ext cx="3520440" cy="2907792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2423160"/>
            <a:ext cx="50292" cy="2907792"/>
          </a:xfrm>
          <a:prstGeom prst="rect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2606040"/>
            <a:ext cx="3154680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t>PRIORIZACIÓN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209544"/>
            <a:ext cx="3063240" cy="19476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Ordenar investigaciones mediante señales transparentes.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textur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HOJA DE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12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Cómo convertir el prototipo en piloto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Una ruta progresiva con criterios de aceptación definidos.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2606040" cy="2761488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670048"/>
            <a:ext cx="91440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20D6E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383280"/>
            <a:ext cx="233172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5FAFF"/>
                </a:solidFill>
                <a:latin typeface="Aptos"/>
              </a:defRPr>
            </a:pPr>
            <a:r>
              <a:t>ALINEAR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959352"/>
            <a:ext cx="2331720" cy="8229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Casos de uso y datos disponibles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4448" y="2450592"/>
            <a:ext cx="2606040" cy="2761488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39" y="2670048"/>
            <a:ext cx="91440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20D6E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383280"/>
            <a:ext cx="233172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5FAFF"/>
                </a:solidFill>
                <a:latin typeface="Aptos"/>
              </a:defRPr>
            </a:pPr>
            <a:r>
              <a:t>VALIDAR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959352"/>
            <a:ext cx="2331720" cy="8229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Calidad, etiquetas y falsos positivos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3096" y="2450592"/>
            <a:ext cx="2606040" cy="2761488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47688" y="2670048"/>
            <a:ext cx="91440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20D6E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383280"/>
            <a:ext cx="233172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5FAFF"/>
                </a:solidFill>
                <a:latin typeface="Aptos"/>
              </a:defRPr>
            </a:pPr>
            <a:r>
              <a:t>INTEGRAR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3959352"/>
            <a:ext cx="2331720" cy="8229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Controles, seguridad y auditoría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81744" y="2450592"/>
            <a:ext cx="2606040" cy="2761488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46336" y="2670048"/>
            <a:ext cx="91440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20D6E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6" y="3383280"/>
            <a:ext cx="233172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5FAFF"/>
                </a:solidFill>
                <a:latin typeface="Aptos"/>
              </a:defRPr>
            </a:pPr>
            <a:r>
              <a:t>MEDIR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6336" y="3959352"/>
            <a:ext cx="2331720" cy="8229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Indicadores operativos y decisión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xtur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RESPONSABILIDAD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13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Qué sabemos y qué falta validar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Una propuesta creíble reconoce sus límites.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77440"/>
            <a:ext cx="3493008" cy="2953512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377440"/>
            <a:ext cx="50292" cy="295351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560320"/>
            <a:ext cx="3127248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t>DATOS SINTÉTICOS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163824"/>
            <a:ext cx="3035808" cy="199339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El comportamiento observado no equivale al de una institución real.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377440"/>
            <a:ext cx="3493008" cy="2953512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2377440"/>
            <a:ext cx="50292" cy="2953512"/>
          </a:xfrm>
          <a:prstGeom prst="rect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3127248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t>SIN ETIQUETAS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63824"/>
            <a:ext cx="3035808" cy="199339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No hay métricas verificadas de clasificación de fraude.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2377440"/>
            <a:ext cx="3493008" cy="2953512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28431" y="2377440"/>
            <a:ext cx="50292" cy="2953512"/>
          </a:xfrm>
          <a:prstGeom prst="rect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1" y="2560320"/>
            <a:ext cx="3127248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3163824"/>
            <a:ext cx="3035808" cy="199339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AFC3D6"/>
                </a:solidFill>
                <a:latin typeface="Aptos"/>
              </a:defRPr>
            </a:pPr>
            <a:r>
              <a:t>Las cifras y la carga deben contrastarse con los artefactos del repositorio.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360B99-79CB-768B-7777-9847889B6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xture_13.png">
            <a:extLst>
              <a:ext uri="{FF2B5EF4-FFF2-40B4-BE49-F238E27FC236}">
                <a16:creationId xmlns:a16="http://schemas.microsoft.com/office/drawing/2014/main" id="{F80FACE9-52D0-E535-2FD2-E424731F3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4064010-F855-EDF2-F640-C44551BAC250}"/>
              </a:ext>
            </a:extLst>
          </p:cNvPr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FA7B71-E38E-9FAC-7A71-48B9BDCC02EA}"/>
              </a:ext>
            </a:extLst>
          </p:cNvPr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E1E496-FC03-CB2E-CC17-5DFF0CC84F6A}"/>
              </a:ext>
            </a:extLst>
          </p:cNvPr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RESPONSABILIDAD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EC0DE-672B-E29F-06FF-55B34449BF44}"/>
              </a:ext>
            </a:extLst>
          </p:cNvPr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13 / 15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DA3A9CF2-6B1B-09B9-36E4-50EC523DB43C}"/>
              </a:ext>
            </a:extLst>
          </p:cNvPr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D5B0937-3D11-A4AB-8C59-A121D2234540}"/>
              </a:ext>
            </a:extLst>
          </p:cNvPr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A9D471-B594-7284-CCFF-EC2AB08E9E60}"/>
              </a:ext>
            </a:extLst>
          </p:cNvPr>
          <p:cNvSpPr txBox="1"/>
          <p:nvPr/>
        </p:nvSpPr>
        <p:spPr>
          <a:xfrm>
            <a:off x="566928" y="749808"/>
            <a:ext cx="109728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Evidencia</a:t>
            </a:r>
            <a:r>
              <a:rPr lang="en-US" sz="3400" b="1" dirty="0">
                <a:solidFill>
                  <a:srgbClr val="F5FAFF"/>
                </a:solidFill>
                <a:latin typeface="Aptos"/>
              </a:rPr>
              <a:t> de </a:t>
            </a: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desempeño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15D5FC4-75FA-93F8-613B-1E1B38BAF6B7}"/>
              </a:ext>
            </a:extLst>
          </p:cNvPr>
          <p:cNvSpPr/>
          <p:nvPr/>
        </p:nvSpPr>
        <p:spPr>
          <a:xfrm>
            <a:off x="658368" y="2377440"/>
            <a:ext cx="9985248" cy="2953512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F7F368-60F5-549A-FD7A-AFADE17AC9DE}"/>
              </a:ext>
            </a:extLst>
          </p:cNvPr>
          <p:cNvSpPr/>
          <p:nvPr/>
        </p:nvSpPr>
        <p:spPr>
          <a:xfrm>
            <a:off x="658368" y="2377440"/>
            <a:ext cx="50292" cy="295351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697778-B9FA-A3FD-9FF7-9DD0F1F9AB9E}"/>
              </a:ext>
            </a:extLst>
          </p:cNvPr>
          <p:cNvSpPr txBox="1"/>
          <p:nvPr/>
        </p:nvSpPr>
        <p:spPr>
          <a:xfrm>
            <a:off x="886968" y="2560320"/>
            <a:ext cx="4277314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rPr lang="en-US" sz="2400" b="1" dirty="0" err="1">
                <a:solidFill>
                  <a:srgbClr val="F5FAFF"/>
                </a:solidFill>
                <a:latin typeface="Aptos"/>
              </a:rPr>
              <a:t>Evidencia</a:t>
            </a:r>
            <a:r>
              <a:rPr lang="en-US" sz="2400" b="1" dirty="0">
                <a:solidFill>
                  <a:srgbClr val="F5FAFF"/>
                </a:solidFill>
                <a:latin typeface="Aptos"/>
              </a:rPr>
              <a:t> de </a:t>
            </a:r>
            <a:r>
              <a:rPr lang="en-US" sz="2400" b="1" dirty="0" err="1">
                <a:solidFill>
                  <a:srgbClr val="F5FAFF"/>
                </a:solidFill>
                <a:latin typeface="Aptos"/>
              </a:rPr>
              <a:t>desempeño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9DB3BE-14E6-21E7-C0D1-7F413EA725C0}"/>
              </a:ext>
            </a:extLst>
          </p:cNvPr>
          <p:cNvSpPr txBox="1"/>
          <p:nvPr/>
        </p:nvSpPr>
        <p:spPr>
          <a:xfrm>
            <a:off x="886968" y="3163824"/>
            <a:ext cx="7647432" cy="161903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3 </a:t>
            </a:r>
            <a:r>
              <a:rPr lang="en-US" b="1" dirty="0" err="1">
                <a:solidFill>
                  <a:schemeClr val="bg1"/>
                </a:solidFill>
              </a:rPr>
              <a:t>operaciones</a:t>
            </a:r>
            <a:r>
              <a:rPr lang="en-US" b="1" dirty="0">
                <a:solidFill>
                  <a:schemeClr val="bg1"/>
                </a:solidFill>
              </a:rPr>
              <a:t> de GDS: </a:t>
            </a:r>
            <a:r>
              <a:rPr lang="en-US" b="1" dirty="0" err="1">
                <a:solidFill>
                  <a:schemeClr val="bg1"/>
                </a:solidFill>
              </a:rPr>
              <a:t>proyección</a:t>
            </a:r>
            <a:r>
              <a:rPr lang="en-US" b="1" dirty="0">
                <a:solidFill>
                  <a:schemeClr val="bg1"/>
                </a:solidFill>
              </a:rPr>
              <a:t>, WCC y Louvain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5 000 </a:t>
            </a:r>
            <a:r>
              <a:rPr lang="en-US" b="1" dirty="0" err="1">
                <a:solidFill>
                  <a:schemeClr val="bg1"/>
                </a:solidFill>
              </a:rPr>
              <a:t>cuentas</a:t>
            </a:r>
            <a:r>
              <a:rPr lang="en-US" b="1" dirty="0">
                <a:solidFill>
                  <a:schemeClr val="bg1"/>
                </a:solidFill>
              </a:rPr>
              <a:t> y 60 014 </a:t>
            </a:r>
            <a:r>
              <a:rPr lang="en-US" b="1" dirty="0" err="1">
                <a:solidFill>
                  <a:schemeClr val="bg1"/>
                </a:solidFill>
              </a:rPr>
              <a:t>relaciones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en</a:t>
            </a:r>
            <a:r>
              <a:rPr lang="en-US" b="1" dirty="0">
                <a:solidFill>
                  <a:schemeClr val="bg1"/>
                </a:solidFill>
              </a:rPr>
              <a:t> la </a:t>
            </a:r>
            <a:r>
              <a:rPr lang="en-US" b="1" dirty="0" err="1">
                <a:solidFill>
                  <a:schemeClr val="bg1"/>
                </a:solidFill>
              </a:rPr>
              <a:t>proyección</a:t>
            </a:r>
            <a:endParaRPr lang="en-US" b="1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Datos </a:t>
            </a:r>
            <a:r>
              <a:rPr lang="en-US" b="1" dirty="0" err="1">
                <a:solidFill>
                  <a:schemeClr val="bg1"/>
                </a:solidFill>
              </a:rPr>
              <a:t>sintéticos</a:t>
            </a:r>
            <a:r>
              <a:rPr lang="en-US" b="1" dirty="0">
                <a:solidFill>
                  <a:schemeClr val="bg1"/>
                </a:solidFill>
              </a:rPr>
              <a:t> con </a:t>
            </a:r>
            <a:r>
              <a:rPr lang="en-US" b="1" dirty="0" err="1">
                <a:solidFill>
                  <a:schemeClr val="bg1"/>
                </a:solidFill>
              </a:rPr>
              <a:t>semilla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fija</a:t>
            </a:r>
            <a:endParaRPr lang="en-US" b="1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Neo4j 5.26 Community, GDS 2.13.13, Docker</a:t>
            </a:r>
          </a:p>
        </p:txBody>
      </p:sp>
    </p:spTree>
    <p:extLst>
      <p:ext uri="{BB962C8B-B14F-4D97-AF65-F5344CB8AC3E}">
        <p14:creationId xmlns:p14="http://schemas.microsoft.com/office/powerpoint/2010/main" val="336795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854154-ED85-773F-A0CD-9CF41CD57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xture_13.png">
            <a:extLst>
              <a:ext uri="{FF2B5EF4-FFF2-40B4-BE49-F238E27FC236}">
                <a16:creationId xmlns:a16="http://schemas.microsoft.com/office/drawing/2014/main" id="{A13E26E8-9995-B16C-E1AA-592832871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9A1675-1117-110A-63E7-62FFD4C7ADDB}"/>
              </a:ext>
            </a:extLst>
          </p:cNvPr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5E3F70-0210-01C3-D375-4055CE1232B6}"/>
              </a:ext>
            </a:extLst>
          </p:cNvPr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75C341-F2BB-95B5-1769-DF9AA10015EF}"/>
              </a:ext>
            </a:extLst>
          </p:cNvPr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RESPONSABILIDAD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16C1D0-85CD-8C80-FB15-B824D6F34F60}"/>
              </a:ext>
            </a:extLst>
          </p:cNvPr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13 / 15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763CD976-A964-893D-590A-7B1FBD43685F}"/>
              </a:ext>
            </a:extLst>
          </p:cNvPr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BBDAA1-196B-0A80-C11D-C547969D6166}"/>
              </a:ext>
            </a:extLst>
          </p:cNvPr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9B27C3-13A7-B97C-B582-4DD31105000C}"/>
              </a:ext>
            </a:extLst>
          </p:cNvPr>
          <p:cNvSpPr txBox="1"/>
          <p:nvPr/>
        </p:nvSpPr>
        <p:spPr>
          <a:xfrm>
            <a:off x="566928" y="749808"/>
            <a:ext cx="109728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Metodología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076221B-0C5D-737A-AC57-99786B9B933F}"/>
              </a:ext>
            </a:extLst>
          </p:cNvPr>
          <p:cNvSpPr/>
          <p:nvPr/>
        </p:nvSpPr>
        <p:spPr>
          <a:xfrm>
            <a:off x="658368" y="2377440"/>
            <a:ext cx="9985248" cy="2953512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DECAF8-951B-5043-A95F-6FACFA659733}"/>
              </a:ext>
            </a:extLst>
          </p:cNvPr>
          <p:cNvSpPr txBox="1"/>
          <p:nvPr/>
        </p:nvSpPr>
        <p:spPr>
          <a:xfrm>
            <a:off x="886968" y="2560320"/>
            <a:ext cx="3127248" cy="35394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rPr lang="en-US" sz="2300" b="1" dirty="0" err="1">
                <a:solidFill>
                  <a:srgbClr val="F5FAFF"/>
                </a:solidFill>
                <a:latin typeface="Aptos"/>
              </a:rPr>
              <a:t>Cómo</a:t>
            </a:r>
            <a:r>
              <a:rPr lang="en-US" sz="2300" b="1" dirty="0">
                <a:solidFill>
                  <a:srgbClr val="F5FAFF"/>
                </a:solidFill>
                <a:latin typeface="Aptos"/>
              </a:rPr>
              <a:t> </a:t>
            </a:r>
            <a:r>
              <a:rPr lang="en-US" sz="2300" b="1" dirty="0" err="1">
                <a:solidFill>
                  <a:srgbClr val="F5FAFF"/>
                </a:solidFill>
                <a:latin typeface="Aptos"/>
              </a:rPr>
              <a:t>medimos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4B005-2050-A91B-516D-AD86343D91CF}"/>
              </a:ext>
            </a:extLst>
          </p:cNvPr>
          <p:cNvSpPr txBox="1"/>
          <p:nvPr/>
        </p:nvSpPr>
        <p:spPr>
          <a:xfrm>
            <a:off x="926287" y="3001409"/>
            <a:ext cx="7647432" cy="203453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5 corridas de </a:t>
            </a:r>
            <a:r>
              <a:rPr lang="en-US" b="1" dirty="0" err="1">
                <a:solidFill>
                  <a:schemeClr val="bg1"/>
                </a:solidFill>
              </a:rPr>
              <a:t>calentamiento</a:t>
            </a:r>
            <a:r>
              <a:rPr lang="en-US" b="1" dirty="0">
                <a:solidFill>
                  <a:schemeClr val="bg1"/>
                </a:solidFill>
              </a:rPr>
              <a:t> (</a:t>
            </a:r>
            <a:r>
              <a:rPr lang="en-US" b="1" dirty="0" err="1">
                <a:solidFill>
                  <a:schemeClr val="bg1"/>
                </a:solidFill>
              </a:rPr>
              <a:t>descartadas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100 </a:t>
            </a:r>
            <a:r>
              <a:rPr lang="en-US" b="1" dirty="0" err="1">
                <a:solidFill>
                  <a:schemeClr val="bg1"/>
                </a:solidFill>
              </a:rPr>
              <a:t>repeticiones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por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algoritmo</a:t>
            </a:r>
            <a:endParaRPr lang="en-US" b="1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Media, </a:t>
            </a:r>
            <a:r>
              <a:rPr lang="en-US" b="1" dirty="0" err="1">
                <a:solidFill>
                  <a:schemeClr val="bg1"/>
                </a:solidFill>
              </a:rPr>
              <a:t>mediana</a:t>
            </a:r>
            <a:r>
              <a:rPr lang="en-US" b="1" dirty="0">
                <a:solidFill>
                  <a:schemeClr val="bg1"/>
                </a:solidFill>
              </a:rPr>
              <a:t>, </a:t>
            </a:r>
            <a:r>
              <a:rPr lang="en-US" b="1" dirty="0" err="1">
                <a:solidFill>
                  <a:schemeClr val="bg1"/>
                </a:solidFill>
              </a:rPr>
              <a:t>desviación</a:t>
            </a:r>
            <a:r>
              <a:rPr lang="en-US" b="1" dirty="0">
                <a:solidFill>
                  <a:schemeClr val="bg1"/>
                </a:solidFill>
              </a:rPr>
              <a:t>, </a:t>
            </a:r>
            <a:r>
              <a:rPr lang="en-US" b="1" dirty="0" err="1">
                <a:solidFill>
                  <a:schemeClr val="bg1"/>
                </a:solidFill>
              </a:rPr>
              <a:t>mínimo</a:t>
            </a:r>
            <a:r>
              <a:rPr lang="en-US" b="1" dirty="0">
                <a:solidFill>
                  <a:schemeClr val="bg1"/>
                </a:solidFill>
              </a:rPr>
              <a:t>, </a:t>
            </a:r>
            <a:r>
              <a:rPr lang="en-US" b="1" dirty="0" err="1">
                <a:solidFill>
                  <a:schemeClr val="bg1"/>
                </a:solidFill>
              </a:rPr>
              <a:t>máximo</a:t>
            </a:r>
            <a:r>
              <a:rPr lang="en-US" b="1" dirty="0">
                <a:solidFill>
                  <a:schemeClr val="bg1"/>
                </a:solidFill>
              </a:rPr>
              <a:t> y p95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IC 95 %: t de Student (media) y bootstrap (</a:t>
            </a:r>
            <a:r>
              <a:rPr lang="en-US" b="1" dirty="0" err="1">
                <a:solidFill>
                  <a:schemeClr val="bg1"/>
                </a:solidFill>
              </a:rPr>
              <a:t>mediana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Primera corrida </a:t>
            </a:r>
            <a:r>
              <a:rPr lang="en-US" b="1" dirty="0" err="1">
                <a:solidFill>
                  <a:schemeClr val="bg1"/>
                </a:solidFill>
              </a:rPr>
              <a:t>guardada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como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tiempo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en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frío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1267B3-A435-EFD9-C766-97C073649043}"/>
              </a:ext>
            </a:extLst>
          </p:cNvPr>
          <p:cNvSpPr/>
          <p:nvPr/>
        </p:nvSpPr>
        <p:spPr>
          <a:xfrm>
            <a:off x="658368" y="2410691"/>
            <a:ext cx="50292" cy="2953512"/>
          </a:xfrm>
          <a:prstGeom prst="rect">
            <a:avLst/>
          </a:prstGeom>
          <a:solidFill>
            <a:srgbClr val="F26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51585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D6128-41B4-3629-6290-C8D59F1FF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xture_13.png">
            <a:extLst>
              <a:ext uri="{FF2B5EF4-FFF2-40B4-BE49-F238E27FC236}">
                <a16:creationId xmlns:a16="http://schemas.microsoft.com/office/drawing/2014/main" id="{9813EFF6-156A-EE85-627E-415F96BA9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7BF468-08DF-F235-EDB9-700B4B22EFA6}"/>
              </a:ext>
            </a:extLst>
          </p:cNvPr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F99349-33B3-A020-B6F3-DBE9EAA2781A}"/>
              </a:ext>
            </a:extLst>
          </p:cNvPr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3E1A7F-493D-0E46-3B0D-CE69EA62F8E5}"/>
              </a:ext>
            </a:extLst>
          </p:cNvPr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RESPONSABILIDAD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39580-4603-7B32-4263-9B68588C7BB2}"/>
              </a:ext>
            </a:extLst>
          </p:cNvPr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13 / 15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A9C736D9-ED34-2D4D-905A-5DCFDC23D10D}"/>
              </a:ext>
            </a:extLst>
          </p:cNvPr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327DCB1-495E-B100-07E5-7BBA2B6C2299}"/>
              </a:ext>
            </a:extLst>
          </p:cNvPr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A0B769-DB97-B12D-0F39-63EF288A3A84}"/>
              </a:ext>
            </a:extLst>
          </p:cNvPr>
          <p:cNvSpPr txBox="1"/>
          <p:nvPr/>
        </p:nvSpPr>
        <p:spPr>
          <a:xfrm>
            <a:off x="566928" y="749808"/>
            <a:ext cx="109728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Resultados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606946A-DE32-C39B-6A5D-39C23613C154}"/>
              </a:ext>
            </a:extLst>
          </p:cNvPr>
          <p:cNvSpPr/>
          <p:nvPr/>
        </p:nvSpPr>
        <p:spPr>
          <a:xfrm>
            <a:off x="658367" y="1455908"/>
            <a:ext cx="11374305" cy="3875044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/>
              <a:t>Louvain es </a:t>
            </a:r>
            <a:r>
              <a:rPr lang="en-US" b="1" dirty="0" err="1"/>
              <a:t>unas</a:t>
            </a:r>
            <a:r>
              <a:rPr lang="en-US" b="1" dirty="0"/>
              <a:t> 170 </a:t>
            </a:r>
            <a:r>
              <a:rPr lang="en-US" dirty="0" err="1"/>
              <a:t>escalas</a:t>
            </a:r>
            <a:r>
              <a:rPr lang="en-US" dirty="0"/>
              <a:t> </a:t>
            </a:r>
            <a:r>
              <a:rPr lang="en-US" dirty="0" err="1"/>
              <a:t>mayores</a:t>
            </a:r>
            <a:r>
              <a:rPr lang="en-US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C5F7D0-2B7B-6099-957E-B77FCE14599B}"/>
              </a:ext>
            </a:extLst>
          </p:cNvPr>
          <p:cNvSpPr/>
          <p:nvPr/>
        </p:nvSpPr>
        <p:spPr>
          <a:xfrm>
            <a:off x="672084" y="1455908"/>
            <a:ext cx="50292" cy="3920763"/>
          </a:xfrm>
          <a:prstGeom prst="rect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09EF2BB-1E40-8EB8-6A35-929445A32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35142"/>
            <a:ext cx="5505794" cy="8028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340F6F-651A-7966-1F9A-866FA0816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71" y="1574868"/>
            <a:ext cx="5010846" cy="35765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64B6F97-F6D3-54C3-4704-4454DFD024B7}"/>
              </a:ext>
            </a:extLst>
          </p:cNvPr>
          <p:cNvSpPr txBox="1"/>
          <p:nvPr/>
        </p:nvSpPr>
        <p:spPr>
          <a:xfrm>
            <a:off x="5970612" y="2928559"/>
            <a:ext cx="606206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Louvain es </a:t>
            </a:r>
            <a:r>
              <a:rPr lang="en-US" dirty="0" err="1">
                <a:solidFill>
                  <a:schemeClr val="bg1"/>
                </a:solidFill>
              </a:rPr>
              <a:t>más</a:t>
            </a:r>
            <a:r>
              <a:rPr lang="en-US" dirty="0">
                <a:solidFill>
                  <a:schemeClr val="bg1"/>
                </a:solidFill>
              </a:rPr>
              <a:t> lento </a:t>
            </a:r>
            <a:r>
              <a:rPr lang="en-US" dirty="0" err="1">
                <a:solidFill>
                  <a:schemeClr val="bg1"/>
                </a:solidFill>
              </a:rPr>
              <a:t>que</a:t>
            </a:r>
            <a:r>
              <a:rPr lang="en-US" dirty="0">
                <a:solidFill>
                  <a:schemeClr val="bg1"/>
                </a:solidFill>
              </a:rPr>
              <a:t> WCC (</a:t>
            </a:r>
            <a:r>
              <a:rPr lang="en-US" dirty="0" err="1">
                <a:solidFill>
                  <a:schemeClr val="bg1"/>
                </a:solidFill>
              </a:rPr>
              <a:t>mediana</a:t>
            </a:r>
            <a:r>
              <a:rPr lang="en-US" dirty="0">
                <a:solidFill>
                  <a:schemeClr val="bg1"/>
                </a:solidFill>
              </a:rPr>
              <a:t> de 5,28 s </a:t>
            </a:r>
            <a:r>
              <a:rPr lang="en-US" dirty="0" err="1">
                <a:solidFill>
                  <a:schemeClr val="bg1"/>
                </a:solidFill>
              </a:rPr>
              <a:t>frente</a:t>
            </a:r>
            <a:r>
              <a:rPr lang="en-US" dirty="0">
                <a:solidFill>
                  <a:schemeClr val="bg1"/>
                </a:solidFill>
              </a:rPr>
              <a:t> a 0,03 s), y sus </a:t>
            </a:r>
            <a:r>
              <a:rPr lang="en-US" dirty="0" err="1">
                <a:solidFill>
                  <a:schemeClr val="bg1"/>
                </a:solidFill>
              </a:rPr>
              <a:t>intervalos</a:t>
            </a:r>
            <a:r>
              <a:rPr lang="en-US" dirty="0">
                <a:solidFill>
                  <a:schemeClr val="bg1"/>
                </a:solidFill>
              </a:rPr>
              <a:t> de confianza no se </a:t>
            </a:r>
            <a:r>
              <a:rPr lang="en-US" dirty="0" err="1">
                <a:solidFill>
                  <a:schemeClr val="bg1"/>
                </a:solidFill>
              </a:rPr>
              <a:t>traslapan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100 </a:t>
            </a:r>
            <a:r>
              <a:rPr lang="en-US" dirty="0" err="1">
                <a:solidFill>
                  <a:schemeClr val="bg1"/>
                </a:solidFill>
              </a:rPr>
              <a:t>repeticiones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algoritmo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un solo </a:t>
            </a:r>
            <a:r>
              <a:rPr lang="en-US" dirty="0" err="1">
                <a:solidFill>
                  <a:schemeClr val="bg1"/>
                </a:solidFill>
              </a:rPr>
              <a:t>equipo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sirven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orden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magnitud</a:t>
            </a:r>
            <a:r>
              <a:rPr lang="en-US" dirty="0">
                <a:solidFill>
                  <a:schemeClr val="bg1"/>
                </a:solidFill>
              </a:rPr>
              <a:t> para 5 000 </a:t>
            </a:r>
            <a:r>
              <a:rPr lang="en-US" dirty="0" err="1">
                <a:solidFill>
                  <a:schemeClr val="bg1"/>
                </a:solidFill>
              </a:rPr>
              <a:t>cuentas</a:t>
            </a:r>
            <a:r>
              <a:rPr lang="en-US" dirty="0">
                <a:solidFill>
                  <a:schemeClr val="bg1"/>
                </a:solidFill>
              </a:rPr>
              <a:t>, no para </a:t>
            </a:r>
            <a:r>
              <a:rPr lang="en-US" dirty="0" err="1">
                <a:solidFill>
                  <a:schemeClr val="bg1"/>
                </a:solidFill>
              </a:rPr>
              <a:t>escalas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mayores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7036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0081A-3F9D-81AD-CEF1-38904667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xture_13.png">
            <a:extLst>
              <a:ext uri="{FF2B5EF4-FFF2-40B4-BE49-F238E27FC236}">
                <a16:creationId xmlns:a16="http://schemas.microsoft.com/office/drawing/2014/main" id="{CE46438E-62DF-BE27-CEEC-05559850D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6EAE38-ED99-8E70-EE38-EBE63479A59E}"/>
              </a:ext>
            </a:extLst>
          </p:cNvPr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AFE7E7-C995-390F-B838-9125C9BEBA47}"/>
              </a:ext>
            </a:extLst>
          </p:cNvPr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EB051-0CEE-3C89-C399-D65A506A2019}"/>
              </a:ext>
            </a:extLst>
          </p:cNvPr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RESPONSABILIDAD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189A3-4723-7ACE-3CB4-69182022C22E}"/>
              </a:ext>
            </a:extLst>
          </p:cNvPr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13 / 15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D26A52F-6399-DDA5-E7AA-87946D30F3DF}"/>
              </a:ext>
            </a:extLst>
          </p:cNvPr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2220B2-D698-E453-D0F9-814AADB3E056}"/>
              </a:ext>
            </a:extLst>
          </p:cNvPr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9B113-ED9B-CCCD-BD90-AAFB765FCAB8}"/>
              </a:ext>
            </a:extLst>
          </p:cNvPr>
          <p:cNvSpPr txBox="1"/>
          <p:nvPr/>
        </p:nvSpPr>
        <p:spPr>
          <a:xfrm>
            <a:off x="566928" y="749808"/>
            <a:ext cx="109728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rPr lang="en-US" sz="3400" b="1" dirty="0" err="1">
                <a:solidFill>
                  <a:srgbClr val="F5FAFF"/>
                </a:solidFill>
                <a:latin typeface="Aptos"/>
              </a:rPr>
              <a:t>Límites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8B7B3A-94B8-5997-9AEE-CDAAFEE49687}"/>
              </a:ext>
            </a:extLst>
          </p:cNvPr>
          <p:cNvSpPr/>
          <p:nvPr/>
        </p:nvSpPr>
        <p:spPr>
          <a:xfrm>
            <a:off x="658368" y="2377440"/>
            <a:ext cx="9985248" cy="2953512"/>
          </a:xfrm>
          <a:prstGeom prst="roundRect">
            <a:avLst>
              <a:gd name="adj" fmla="val 16000"/>
            </a:avLst>
          </a:prstGeom>
          <a:solidFill>
            <a:srgbClr val="0B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1090F4-6BDE-FD5A-6F45-2FEA2A10A248}"/>
              </a:ext>
            </a:extLst>
          </p:cNvPr>
          <p:cNvSpPr txBox="1"/>
          <p:nvPr/>
        </p:nvSpPr>
        <p:spPr>
          <a:xfrm>
            <a:off x="886967" y="2560320"/>
            <a:ext cx="5804777" cy="35394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5FAFF"/>
                </a:solidFill>
                <a:latin typeface="Aptos"/>
              </a:defRPr>
            </a:pPr>
            <a:r>
              <a:rPr lang="en-US" sz="2300" b="1" dirty="0" err="1">
                <a:solidFill>
                  <a:srgbClr val="F5FAFF"/>
                </a:solidFill>
                <a:latin typeface="Aptos"/>
              </a:rPr>
              <a:t>Qué</a:t>
            </a:r>
            <a:r>
              <a:rPr lang="en-US" sz="2300" b="1" dirty="0">
                <a:solidFill>
                  <a:srgbClr val="F5FAFF"/>
                </a:solidFill>
                <a:latin typeface="Aptos"/>
              </a:rPr>
              <a:t> no </a:t>
            </a:r>
            <a:r>
              <a:rPr lang="en-US" sz="2300" b="1" dirty="0" err="1">
                <a:solidFill>
                  <a:srgbClr val="F5FAFF"/>
                </a:solidFill>
                <a:latin typeface="Aptos"/>
              </a:rPr>
              <a:t>demuestra</a:t>
            </a:r>
            <a:r>
              <a:rPr lang="en-US" sz="2300" b="1" dirty="0">
                <a:solidFill>
                  <a:srgbClr val="F5FAFF"/>
                </a:solidFill>
                <a:latin typeface="Aptos"/>
              </a:rPr>
              <a:t> el benchmark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256F9-35C8-A210-4411-E7CB22C9FBCE}"/>
              </a:ext>
            </a:extLst>
          </p:cNvPr>
          <p:cNvSpPr txBox="1"/>
          <p:nvPr/>
        </p:nvSpPr>
        <p:spPr>
          <a:xfrm>
            <a:off x="926287" y="3001409"/>
            <a:ext cx="7647432" cy="15844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Mide </a:t>
            </a:r>
            <a:r>
              <a:rPr lang="en-US" dirty="0" err="1">
                <a:solidFill>
                  <a:schemeClr val="bg1"/>
                </a:solidFill>
              </a:rPr>
              <a:t>este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equipo</a:t>
            </a:r>
            <a:r>
              <a:rPr lang="en-US" dirty="0">
                <a:solidFill>
                  <a:schemeClr val="bg1"/>
                </a:solidFill>
              </a:rPr>
              <a:t> y </a:t>
            </a:r>
            <a:r>
              <a:rPr lang="en-US" dirty="0" err="1">
                <a:solidFill>
                  <a:schemeClr val="bg1"/>
                </a:solidFill>
              </a:rPr>
              <a:t>estos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datos</a:t>
            </a:r>
            <a:r>
              <a:rPr lang="en-US" dirty="0">
                <a:solidFill>
                  <a:schemeClr val="bg1"/>
                </a:solidFill>
              </a:rPr>
              <a:t>, no </a:t>
            </a:r>
            <a:r>
              <a:rPr lang="en-US" dirty="0" err="1">
                <a:solidFill>
                  <a:schemeClr val="bg1"/>
                </a:solidFill>
              </a:rPr>
              <a:t>otros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entornos</a:t>
            </a:r>
            <a:endParaRPr lang="en-US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5 000 </a:t>
            </a:r>
            <a:r>
              <a:rPr lang="en-US" dirty="0" err="1">
                <a:solidFill>
                  <a:schemeClr val="bg1"/>
                </a:solidFill>
              </a:rPr>
              <a:t>cuentas</a:t>
            </a:r>
            <a:r>
              <a:rPr lang="en-US" dirty="0">
                <a:solidFill>
                  <a:schemeClr val="bg1"/>
                </a:solidFill>
              </a:rPr>
              <a:t>: no se </a:t>
            </a:r>
            <a:r>
              <a:rPr lang="en-US" dirty="0" err="1">
                <a:solidFill>
                  <a:schemeClr val="bg1"/>
                </a:solidFill>
              </a:rPr>
              <a:t>extrapola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millones</a:t>
            </a:r>
            <a:endParaRPr lang="en-US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Community: </a:t>
            </a:r>
            <a:r>
              <a:rPr lang="en-US" dirty="0" err="1">
                <a:solidFill>
                  <a:schemeClr val="bg1"/>
                </a:solidFill>
              </a:rPr>
              <a:t>una</a:t>
            </a:r>
            <a:r>
              <a:rPr lang="en-US" dirty="0">
                <a:solidFill>
                  <a:schemeClr val="bg1"/>
                </a:solidFill>
              </a:rPr>
              <a:t> sola </a:t>
            </a:r>
            <a:r>
              <a:rPr lang="en-US" dirty="0" err="1">
                <a:solidFill>
                  <a:schemeClr val="bg1"/>
                </a:solidFill>
              </a:rPr>
              <a:t>instancia</a:t>
            </a:r>
            <a:r>
              <a:rPr lang="en-US" dirty="0">
                <a:solidFill>
                  <a:schemeClr val="bg1"/>
                </a:solidFill>
              </a:rPr>
              <a:t>, GDS con 4 </a:t>
            </a:r>
            <a:r>
              <a:rPr lang="en-US" dirty="0" err="1">
                <a:solidFill>
                  <a:schemeClr val="bg1"/>
                </a:solidFill>
              </a:rPr>
              <a:t>núcleo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7AFB03-2680-6067-20A4-0B9E5D884F3D}"/>
              </a:ext>
            </a:extLst>
          </p:cNvPr>
          <p:cNvSpPr/>
          <p:nvPr/>
        </p:nvSpPr>
        <p:spPr>
          <a:xfrm>
            <a:off x="658368" y="2372868"/>
            <a:ext cx="50292" cy="2953512"/>
          </a:xfrm>
          <a:prstGeom prst="rect">
            <a:avLst/>
          </a:prstGeom>
          <a:solidFill>
            <a:srgbClr val="FFB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42109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xtur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DIFERENCIACIÓN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14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Una propuesta clara, explicable y escalable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El siguiente paso es demostrar valor en un contexto real.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789920" cy="7132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20D6E7"/>
                </a:solidFill>
                <a:latin typeface="Aptos"/>
              </a:defRPr>
            </a:pPr>
            <a:r>
              <a:t>NO VENDEMOS UNA CAJA NEGRA.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64992"/>
            <a:ext cx="10607040" cy="1371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5FAFF"/>
                </a:solidFill>
                <a:latin typeface="Aptos"/>
              </a:defRPr>
            </a:pPr>
            <a:r>
              <a:t>PROPONEMOS UNA FORMA DE INVESTIGAR</a:t>
            </a:r>
          </a:p>
          <a:p>
            <a:pPr>
              <a:spcAft>
                <a:spcPts val="400"/>
              </a:spcAft>
              <a:defRPr sz="2600" b="1">
                <a:solidFill>
                  <a:srgbClr val="F5FAFF"/>
                </a:solidFill>
                <a:latin typeface="Aptos"/>
              </a:defRPr>
            </a:pPr>
            <a:r>
              <a:t>CONEXIONES QUE HOY PUEDEN PASAR INADVERTIDAS.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textur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65760"/>
            <a:ext cx="438912" cy="50292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37744"/>
            <a:ext cx="822960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0D6E7"/>
                </a:solidFill>
                <a:latin typeface="Aptos"/>
              </a:defRPr>
            </a:pPr>
            <a:r>
              <a:t>FRAUDELINK  / 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92608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FC3D6"/>
                </a:solidFill>
                <a:latin typeface="Aptos"/>
              </a:defRPr>
            </a:pPr>
            <a:r>
              <a:t>15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28816"/>
            <a:ext cx="11247120" cy="0"/>
          </a:xfrm>
          <a:prstGeom prst="line">
            <a:avLst/>
          </a:prstGeom>
          <a:ln w="10160">
            <a:solidFill>
              <a:srgbClr val="31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74536"/>
            <a:ext cx="6400800" cy="1737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FC3D6"/>
                </a:solidFill>
                <a:latin typeface="Aptos"/>
              </a:defRPr>
            </a:pPr>
            <a:r>
              <a:t>FRAUDELINK  •  PROPUESTA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972800" cy="9326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FRAUDELINK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10881360" cy="5760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AFC3D6"/>
                </a:solidFill>
                <a:latin typeface="Aptos"/>
              </a:defRPr>
            </a:pPr>
            <a:r>
              <a:t>Hagamos visibles las conexiones.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48840"/>
            <a:ext cx="10789920" cy="7315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5FAFF"/>
                </a:solidFill>
                <a:latin typeface="Aptos"/>
              </a:defRPr>
            </a:pPr>
            <a:r>
              <a:t>Una propuesta para investigar mejor el riesgo financiero.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218688"/>
            <a:ext cx="10789920" cy="64008"/>
          </a:xfrm>
          <a:prstGeom prst="rect">
            <a:avLst/>
          </a:prstGeom>
          <a:solidFill>
            <a:srgbClr val="20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675887"/>
            <a:ext cx="1828800" cy="3474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0D6E7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96512"/>
            <a:ext cx="10789920" cy="17373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F5FAFF"/>
                </a:solidFill>
                <a:latin typeface="Aptos"/>
              </a:defRPr>
            </a:pPr>
            <a:r>
              <a:t>Laura Obando Esquivel</a:t>
            </a:r>
          </a:p>
          <a:p>
            <a:pPr>
              <a:spcAft>
                <a:spcPts val="400"/>
              </a:spcAft>
              <a:defRPr sz="1800" b="0">
                <a:solidFill>
                  <a:srgbClr val="F5FAFF"/>
                </a:solidFill>
                <a:latin typeface="Aptos"/>
              </a:defRPr>
            </a:pPr>
            <a:r>
              <a:t>Camila Mendoza Ramírez</a:t>
            </a:r>
          </a:p>
          <a:p>
            <a:pPr>
              <a:spcAft>
                <a:spcPts val="400"/>
              </a:spcAft>
              <a:defRPr sz="1800" b="0">
                <a:solidFill>
                  <a:srgbClr val="F5FAFF"/>
                </a:solidFill>
                <a:latin typeface="Aptos"/>
              </a:defRPr>
            </a:pPr>
            <a:r>
              <a:t>Jimena Ramírez Zamora</a:t>
            </a:r>
          </a:p>
          <a:p>
            <a:pPr>
              <a:spcAft>
                <a:spcPts val="400"/>
              </a:spcAft>
              <a:defRPr sz="1800" b="0">
                <a:solidFill>
                  <a:srgbClr val="F5FAFF"/>
                </a:solidFill>
                <a:latin typeface="Aptos"/>
              </a:defRPr>
            </a:pPr>
            <a:r>
              <a:t>Alex Díaz Sancho</a:t>
            </a:r>
          </a:p>
          <a:p>
            <a:pPr>
              <a:spcAft>
                <a:spcPts val="400"/>
              </a:spcAft>
              <a:defRPr sz="1800" b="0">
                <a:solidFill>
                  <a:srgbClr val="F5FAFF"/>
                </a:solidFill>
                <a:latin typeface="Aptos"/>
              </a:defRPr>
            </a:pPr>
            <a:r>
              <a:t>Fabián Almirall Marchena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1566</Words>
  <Application>Microsoft Office PowerPoint</Application>
  <PresentationFormat>Widescreen</PresentationFormat>
  <Paragraphs>230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FABIAN ANTONIO ALMIRALL MARCHENA</cp:lastModifiedBy>
  <cp:revision>4</cp:revision>
  <dcterms:created xsi:type="dcterms:W3CDTF">2013-01-27T09:14:16Z</dcterms:created>
  <dcterms:modified xsi:type="dcterms:W3CDTF">2026-10-12T06:25:51Z</dcterms:modified>
  <cp:category/>
</cp:coreProperties>
</file>