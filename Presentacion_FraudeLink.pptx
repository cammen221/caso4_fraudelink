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66" r:id="rId4"/>
    <p:sldId id="261" r:id="rId5"/>
    <p:sldId id="259" r:id="rId6"/>
    <p:sldId id="260" r:id="rId7"/>
    <p:sldId id="258" r:id="rId8"/>
    <p:sldId id="262" r:id="rId9"/>
    <p:sldId id="265" r:id="rId10"/>
    <p:sldId id="271" r:id="rId11"/>
    <p:sldId id="263" r:id="rId12"/>
    <p:sldId id="264" r:id="rId13"/>
    <p:sldId id="268" r:id="rId14"/>
    <p:sldId id="269" r:id="rId15"/>
    <p:sldId id="267" r:id="rId16"/>
    <p:sldId id="275" r:id="rId17"/>
    <p:sldId id="276" r:id="rId18"/>
    <p:sldId id="277" r:id="rId19"/>
    <p:sldId id="278" r:id="rId20"/>
    <p:sldId id="272" r:id="rId21"/>
    <p:sldId id="270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898" y="-2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725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LAURA (0:00). Buenas tardes. Les quiero hacer una pregunta: ¿cuánta plata se les está yendo hoy sin que nadie se dé cuenta? No por un error, sino porque alguien encontró cómo esconderla. Somos Laura, Camila, Jimena, Alex y Fabián, y venimos a ayudarles a encontrar esa plata antes de que se pierda.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LAURA. Imagínense esto: un grupo abre veinte cuentas con nombres distintos. Todas se manejan desde el mismo par de celulares. Se pasan la plata de una a otra, en círculo, hasta que nadie sabe de dónde salió. Y lo peor: cada movimiento, visto solo, parece de lo más normal. Nadie levanta la mano.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LAURA. ¿Y quién paga eso? Ustedes. Cada colón que se va en un fraude no vuelve. Pero no es solo esa plata: son las horas de su gente revisando cuenta por cuenta sin saber por dónde empezar, son los clientes honestos que se van cuando sienten que su dinero no está seguro, y es el nombre de la empresa.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LAURA. FraudeLink les pone todo en un solo mapa: quién tiene qué cuenta, desde qué celular se conecta y a quién le manda plata. Con ese mapa, su equipo ve el grupo completo de un vistazo, puede explicar con pelos y señales por qué una cuenta es sospechosa, y deja de perder tiempo: de 5 000 cuentas, FraudeLink les dice cuáles 5 revisar primero. Transición: ¿por qué esto funciona mejor que lo que tienen hoy? Camila les cuenta.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CAMILA (2:00). Hoy la información de una empresa suele estar como en un montón de hojas de Excel: una de clientes, otra de cuentas, otra de transferencias. Para seguir la plata hay que ir saltando de hoja en hoja, cruzando nombres a mano. FraudeLink funciona como un mapa: cada persona, cuenta y celular es un punto, y las rayas entre ellos son las conexiones. Para seguir la plata, solo se sigue la raya.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CAMILA. Los estafadores cambian de truco todo el tiempo. Con el sistema de siempre, cada truco nuevo significa armar una búsqueda nueva desde cero: solo para calcular el riesgo de una cuenta hacen falta 13 cruces de tablas. Con FraudeLink se cambia un detalle y listo. Su equipo reacciona el mismo día, no al mes, cuando la plata ya se fue. Lo armamos con Neo4j, la herramienta más usada para este tipo de mapas, y es gratis.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CAMILA. En el mapa hay cinco cosas: las personas, sus cuentas, los celulares, las conexiones a internet y los comercios donde pagan. Si nueve personas distintas usan el mismo celular, en una hoja de Excel nadie lo nota; en el mapa, nueve rayas llegan al mismo punto y salta a la vista. Y no es una idea en papel: ya lo probamos con más de 12 000 puntos y 66 000 conexiones. Transición: Alex les cuenta por qué pueden confiar.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ALEX (4:30). Una herramienta que se equivoca sale más cara que no tener ninguna, porque pone a su gente a perseguir fantasmas. Antes de venir a pedirles que confíen, hicimos la prueba: escondimos a propósito dos grupos que se pasaban la plata en círculo, entre miles de movimientos normales. FraudeLink encontró los 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ALEX. Cada persona, cuenta y celular aparece una sola vez: no hay dobles que confundan. Una alarma que suena a cada rato termina siendo ignorada, y cada falsa alarma es una hora de trabajo pagada para nada; FraudeLink solo avisa cuando la plata se mueve como el lavado. Y cada cuenta suma puntos por razones que cualquiera entiende. Si un gerente pregunta por qué se congeló una cuenta, la respuesta está ahí, clarita. Transición: pero mejor que contárselo, se los enseñamos.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ALEX Y CAMILA (6:00 – 10:30). Uno habla y el otro maneja la compu.</a:t>
            </a:r>
          </a:p>
          <a:p>
            <a:r>
              <a:t>1. Todo en un mapa: esquema y conteo. «Esto es todo: personas, cuentas, celulares, internet y comercios.»</a:t>
            </a:r>
          </a:p>
          <a:p>
            <a:r>
              <a:t>2. Consulta 2a. «Este celular lo usan 14 personas distintas. Una familia normal son unas 4.»</a:t>
            </a:r>
          </a:p>
          <a:p>
            <a:r>
              <a:t>3. Consultas 3a y 3b. «La plata sale, pasa por otras dos y vuelve. Cada envío solo se ve inocente.»</a:t>
            </a:r>
          </a:p>
          <a:p>
            <a:r>
              <a:t>4. Consulta 6a. «Estas dos cuentas nunca se mandaron plata, pero pasó por estas dos de en medio.»</a:t>
            </a:r>
          </a:p>
          <a:p>
            <a:r>
              <a:t>5. Consulta 7 y su vista de grafo. «De 5 000 cuentas, solo 5 necesitan atención ya.»</a:t>
            </a:r>
          </a:p>
          <a:p>
            <a:r>
              <a:t>Plan B: si algo falla, pasar directo al video o a las capturas, sin perder tiempo arreglando.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FABIÁN (10:30). Lo que acaban de ver no es un truco de presentación. Escondimos dos grupos que se pasaban la plata en círculo, y FraudeLink los encontró a los dos. Todas las cuentas de esos grupos quedaron entre las 20 primeras de la lista. No se le escapó ninguna.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FABIÁN. Y es rápido: revisar el mapa completo y armar los grupos toma unos 5 segundos, y lo repetimos 100 veces para estar seguros. También lo pusimos a competir con el sistema de siempre. En las preguntas sencillas los dos responden en segundos, y el de siempre hasta va un poquito adelante. Pero en la pregunta que de verdad importa — ¿por dónde pasó la plata para llegar de esta cuenta a aquella? — FraudeLink fue más del doble de rápido. Transición: ahora, hablemos claro de lo que falta y de cuánto cuesta.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JIMENA (12:00). No les vamos a vender humo. FraudeLink lo probamos con información de prueba, así que todavía no sabemos cuánta plata exacta les ayudaría a salvar. Y ojo: que varias personas compartan un celular no siempre es fraude, puede ser una familia. Por eso FraudeLink no acusa a nadie; le dice a su equipo dónde mirar primero, y la última palabra la tiene una persona.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JIMENA. Aquí viene lo bueno: para empezar, cero colones en licencias, porque la herramienta es gratis. Se instala en una computadora en un rato, y las contraseñas quedan guardadas aparte, protegidas. Si algún día el mapa crece a millones de cuentas, existe una versión pagada para empresas grandes. Pero esa inversión se hace solo cuando FraudeLink ya les haya demostrado que se paga solo.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JIMENA. Les proponemos una prueba con sus propios datos, en cuatro pasos: sentarnos con su equipo a ver qué fraudes les duelen más, correr FraudeLink con casos que ustedes ya conocen, conectarlo con su seguridad, y contar cuántos fraudes encuentra y cuántas falsas alarmas da. Al final, ustedes deciden con números en la mano, no con promesas.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AB1DD-20E1-78F8-EC75-6E9A286E9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E04366-6631-06CB-70D6-B8B417059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109575-D9AA-1801-2059-FCB4EB47A4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JIMENA. Les </a:t>
            </a:r>
            <a:r>
              <a:rPr dirty="0" err="1"/>
              <a:t>proponemos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prueba</a:t>
            </a:r>
            <a:r>
              <a:rPr dirty="0"/>
              <a:t> con sus </a:t>
            </a:r>
            <a:r>
              <a:rPr dirty="0" err="1"/>
              <a:t>propios</a:t>
            </a:r>
            <a:r>
              <a:rPr dirty="0"/>
              <a:t> </a:t>
            </a:r>
            <a:r>
              <a:rPr dirty="0" err="1"/>
              <a:t>datos</a:t>
            </a:r>
            <a:r>
              <a:rPr dirty="0"/>
              <a:t>, </a:t>
            </a:r>
            <a:r>
              <a:rPr dirty="0" err="1"/>
              <a:t>en</a:t>
            </a:r>
            <a:r>
              <a:rPr dirty="0"/>
              <a:t> cuatro pasos: </a:t>
            </a:r>
            <a:r>
              <a:rPr dirty="0" err="1"/>
              <a:t>sentarnos</a:t>
            </a:r>
            <a:r>
              <a:rPr dirty="0"/>
              <a:t> con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equipo</a:t>
            </a:r>
            <a:r>
              <a:rPr dirty="0"/>
              <a:t> a </a:t>
            </a:r>
            <a:r>
              <a:rPr dirty="0" err="1"/>
              <a:t>ver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fraudes</a:t>
            </a:r>
            <a:r>
              <a:rPr dirty="0"/>
              <a:t> les </a:t>
            </a:r>
            <a:r>
              <a:rPr dirty="0" err="1"/>
              <a:t>duelen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, </a:t>
            </a:r>
            <a:r>
              <a:rPr dirty="0" err="1"/>
              <a:t>correr</a:t>
            </a:r>
            <a:r>
              <a:rPr dirty="0"/>
              <a:t> </a:t>
            </a:r>
            <a:r>
              <a:rPr dirty="0" err="1"/>
              <a:t>FraudeLink</a:t>
            </a:r>
            <a:r>
              <a:rPr dirty="0"/>
              <a:t> con </a:t>
            </a:r>
            <a:r>
              <a:rPr dirty="0" err="1"/>
              <a:t>casos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ustedes</a:t>
            </a:r>
            <a:r>
              <a:rPr dirty="0"/>
              <a:t> </a:t>
            </a:r>
            <a:r>
              <a:rPr dirty="0" err="1"/>
              <a:t>ya</a:t>
            </a:r>
            <a:r>
              <a:rPr dirty="0"/>
              <a:t> </a:t>
            </a:r>
            <a:r>
              <a:rPr dirty="0" err="1"/>
              <a:t>conocen</a:t>
            </a:r>
            <a:r>
              <a:rPr dirty="0"/>
              <a:t>, </a:t>
            </a:r>
            <a:r>
              <a:rPr dirty="0" err="1"/>
              <a:t>conectarlo</a:t>
            </a:r>
            <a:r>
              <a:rPr dirty="0"/>
              <a:t> con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seguridad</a:t>
            </a:r>
            <a:r>
              <a:rPr dirty="0"/>
              <a:t>, y </a:t>
            </a:r>
            <a:r>
              <a:rPr dirty="0" err="1"/>
              <a:t>contar</a:t>
            </a:r>
            <a:r>
              <a:rPr dirty="0"/>
              <a:t> </a:t>
            </a:r>
            <a:r>
              <a:rPr dirty="0" err="1"/>
              <a:t>cuántos</a:t>
            </a:r>
            <a:r>
              <a:rPr dirty="0"/>
              <a:t> </a:t>
            </a:r>
            <a:r>
              <a:rPr dirty="0" err="1"/>
              <a:t>fraudes</a:t>
            </a:r>
            <a:r>
              <a:rPr dirty="0"/>
              <a:t> </a:t>
            </a:r>
            <a:r>
              <a:rPr dirty="0" err="1"/>
              <a:t>encuentra</a:t>
            </a:r>
            <a:r>
              <a:rPr dirty="0"/>
              <a:t> y </a:t>
            </a:r>
            <a:r>
              <a:rPr dirty="0" err="1"/>
              <a:t>cuántas</a:t>
            </a:r>
            <a:r>
              <a:rPr dirty="0"/>
              <a:t> falsas </a:t>
            </a:r>
            <a:r>
              <a:rPr dirty="0" err="1"/>
              <a:t>alarmas</a:t>
            </a:r>
            <a:r>
              <a:rPr dirty="0"/>
              <a:t> da. Al final, </a:t>
            </a:r>
            <a:r>
              <a:rPr dirty="0" err="1"/>
              <a:t>ustedes</a:t>
            </a:r>
            <a:r>
              <a:rPr dirty="0"/>
              <a:t> </a:t>
            </a:r>
            <a:r>
              <a:rPr dirty="0" err="1"/>
              <a:t>deciden</a:t>
            </a:r>
            <a:r>
              <a:rPr dirty="0"/>
              <a:t> con </a:t>
            </a:r>
            <a:r>
              <a:rPr dirty="0" err="1"/>
              <a:t>números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mano, no con </a:t>
            </a:r>
            <a:r>
              <a:rPr dirty="0" err="1"/>
              <a:t>promesas</a:t>
            </a:r>
            <a:r>
              <a:rPr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02BDD-C8CB-8C72-04EE-3A9FB8C91B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93363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50E0F-E5A1-74B8-1E33-3D0B4E7BF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C06C56-81DE-E818-5496-85B987B580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D13546-C48A-E9B2-2CEB-C0DB735413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JIMENA. Les proponemos una prueba con sus propios datos, en cuatro pasos: sentarnos con su equipo a ver qué fraudes les duelen más, correr FraudeLink con casos que ustedes ya conocen, conectarlo con su seguridad, y contar cuántos fraudes encuentra y cuántas falsas alarmas da. Al final, ustedes deciden con números en la mano, no con promesas.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EFD85-90F0-121B-F5F0-16B3C37AC5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716345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9D456-F801-43EE-1FBD-BCD30D121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11DE23-0892-BB11-5516-4FC7A10149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9F22C9-467C-E25D-8BCD-557E8C167D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JIMENA. Les proponemos una prueba con sus propios datos, en cuatro pasos: sentarnos con su equipo a ver qué fraudes les duelen más, correr FraudeLink con casos que ustedes ya conocen, conectarlo con su seguridad, y contar cuántos fraudes encuentra y cuántas falsas alarmas da. Al final, ustedes deciden con números en la mano, no con promesas.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E6CF2-2580-2206-3D93-553C080069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772050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0BDC7-03F4-0067-0188-939A969FC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D23FA3-A025-4EB2-0772-DFB7DC4813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A10F45-19E5-DDFD-5E2F-60485F5E1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JIMENA. Les proponemos una prueba con sus propios datos, en cuatro pasos: sentarnos con su equipo a ver qué fraudes les duelen más, correr FraudeLink con casos que ustedes ya conocen, conectarlo con su seguridad, y contar cuántos fraudes encuentra y cuántas falsas alarmas da. Al final, ustedes deciden con números en la mano, no con promesas.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66DEEB-088E-4E95-F003-8758B82061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400642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LAURA (14:00). Volvamos a la pregunta del inicio: ¿cuánta plata se les está yendo sin que nadie se dé cuenta? Hoy no lo saben, porque ese grupo de veinte cuentas es invisible. Con FraudeLink lo ven: ven el círculo, ven el celular que comparten, ven quién hace de puente y saben exactamente por dónde empezar. Y cuando los estafadores cambien de truco, ustedes cambian con ellos, el mismo día. Empezar no les cuesta licencias. Seguir sin verlo, sí les cuesta, todos los días.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LAURA. El fraude se esconde en las conexiones. Nosotros se las ponemos a la vista. Muchas gracias; con mucho gusto respondemos sus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6.png"/><Relationship Id="rId9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 descr="texture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t>FRAUDELINK  /  PROPUESTA DE 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01 / 17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49808"/>
            <a:ext cx="10972800" cy="9326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t>FRAUDELINK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10881360" cy="5760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AFC3D6"/>
                </a:solidFill>
                <a:latin typeface="Aptos"/>
              </a:defRPr>
            </a:pPr>
            <a:r>
              <a:t>Hagamos visibles las conexiones.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331720"/>
            <a:ext cx="6675120" cy="1463040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560320"/>
            <a:ext cx="6309360" cy="1463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2900" b="1">
                <a:solidFill>
                  <a:srgbClr val="F5FAFF"/>
                </a:solidFill>
                <a:latin typeface="Aptos"/>
              </a:defRPr>
            </a:pPr>
            <a:r>
              <a:rPr sz="2400"/>
              <a:t>¿CUÁNTA PLATA SE LES ESTÁ</a:t>
            </a:r>
          </a:p>
          <a:p>
            <a:pPr>
              <a:spcAft>
                <a:spcPts val="400"/>
              </a:spcAft>
              <a:defRPr sz="2900" b="1">
                <a:solidFill>
                  <a:srgbClr val="F5FAFF"/>
                </a:solidFill>
                <a:latin typeface="Aptos"/>
              </a:defRPr>
            </a:pPr>
            <a:r>
              <a:rPr sz="2400"/>
              <a:t>YENDO HOY SIN QUE NADIE LO VEA?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8412480" y="1828800"/>
            <a:ext cx="1280160" cy="365760"/>
          </a:xfrm>
          <a:prstGeom prst="line">
            <a:avLst/>
          </a:prstGeom>
          <a:ln w="25400">
            <a:solidFill>
              <a:srgbClr val="2D7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692640" y="1828800"/>
            <a:ext cx="1005840" cy="914400"/>
          </a:xfrm>
          <a:prstGeom prst="line">
            <a:avLst/>
          </a:prstGeom>
          <a:ln w="25400">
            <a:solidFill>
              <a:srgbClr val="2D7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412480" y="2194560"/>
            <a:ext cx="731520" cy="1280160"/>
          </a:xfrm>
          <a:prstGeom prst="line">
            <a:avLst/>
          </a:prstGeom>
          <a:ln w="25400">
            <a:solidFill>
              <a:srgbClr val="2D7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144000" y="3474720"/>
            <a:ext cx="1645920" cy="777240"/>
          </a:xfrm>
          <a:prstGeom prst="line">
            <a:avLst/>
          </a:prstGeom>
          <a:ln w="25400">
            <a:solidFill>
              <a:srgbClr val="2D7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7955279" y="3474720"/>
            <a:ext cx="1188721" cy="822960"/>
          </a:xfrm>
          <a:prstGeom prst="line">
            <a:avLst/>
          </a:prstGeom>
          <a:ln w="25400">
            <a:solidFill>
              <a:srgbClr val="2D7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9784080" y="4251960"/>
            <a:ext cx="1005840" cy="685800"/>
          </a:xfrm>
          <a:prstGeom prst="line">
            <a:avLst/>
          </a:prstGeom>
          <a:ln w="25400">
            <a:solidFill>
              <a:srgbClr val="2D7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698480" y="2743200"/>
            <a:ext cx="91440" cy="1508760"/>
          </a:xfrm>
          <a:prstGeom prst="line">
            <a:avLst/>
          </a:prstGeom>
          <a:ln w="25400">
            <a:solidFill>
              <a:srgbClr val="2D7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955279" y="4297680"/>
            <a:ext cx="1828801" cy="640080"/>
          </a:xfrm>
          <a:prstGeom prst="line">
            <a:avLst/>
          </a:prstGeom>
          <a:ln w="25400">
            <a:solidFill>
              <a:srgbClr val="2D7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84463" y="2066543"/>
            <a:ext cx="256032" cy="256032"/>
          </a:xfrm>
          <a:prstGeom prst="ellipse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371331" y="2153412"/>
            <a:ext cx="82296" cy="82296"/>
          </a:xfrm>
          <a:prstGeom prst="ellipse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564624" y="1700784"/>
            <a:ext cx="256032" cy="256032"/>
          </a:xfrm>
          <a:prstGeom prst="ellipse">
            <a:avLst/>
          </a:prstGeom>
          <a:solidFill>
            <a:srgbClr val="F26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651492" y="1787652"/>
            <a:ext cx="82296" cy="82296"/>
          </a:xfrm>
          <a:prstGeom prst="ellipse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570463" y="2615184"/>
            <a:ext cx="256032" cy="256032"/>
          </a:xfrm>
          <a:prstGeom prst="ellipse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657332" y="2702052"/>
            <a:ext cx="82296" cy="82296"/>
          </a:xfrm>
          <a:prstGeom prst="ellipse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015984" y="3346703"/>
            <a:ext cx="256032" cy="256032"/>
          </a:xfrm>
          <a:prstGeom prst="ellipse">
            <a:avLst/>
          </a:prstGeom>
          <a:solidFill>
            <a:srgbClr val="FFB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102852" y="3433572"/>
            <a:ext cx="82296" cy="82296"/>
          </a:xfrm>
          <a:prstGeom prst="ellipse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661904" y="4123944"/>
            <a:ext cx="256032" cy="256032"/>
          </a:xfrm>
          <a:prstGeom prst="ellipse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748772" y="4210812"/>
            <a:ext cx="82296" cy="82296"/>
          </a:xfrm>
          <a:prstGeom prst="ellipse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827263" y="4169664"/>
            <a:ext cx="256032" cy="256032"/>
          </a:xfrm>
          <a:prstGeom prst="ellipse">
            <a:avLst/>
          </a:prstGeom>
          <a:solidFill>
            <a:srgbClr val="F26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914131" y="4256532"/>
            <a:ext cx="82296" cy="82296"/>
          </a:xfrm>
          <a:prstGeom prst="ellipse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656063" y="4809744"/>
            <a:ext cx="256032" cy="256032"/>
          </a:xfrm>
          <a:prstGeom prst="ellipse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742932" y="4896612"/>
            <a:ext cx="82296" cy="82296"/>
          </a:xfrm>
          <a:prstGeom prst="ellipse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" y="4937760"/>
            <a:ext cx="2743200" cy="320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0D6E7"/>
                </a:solidFill>
                <a:latin typeface="Aptos"/>
              </a:defRPr>
            </a:pPr>
            <a:r>
              <a:t>Equipo de proyecto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321808"/>
            <a:ext cx="10607040" cy="102412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5FAFF"/>
                </a:solidFill>
                <a:latin typeface="Aptos"/>
              </a:defRPr>
            </a:pPr>
            <a:r>
              <a:t>Laura Obando Esquivel · Camila Mendoza Ramírez · Jimena Ramírez Zamora · Alex Díaz Sancho · Fabián Almirall Marchena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023360"/>
            <a:ext cx="640080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600" b="0" i="1">
                <a:solidFill>
                  <a:srgbClr val="20D6E7"/>
                </a:solidFill>
                <a:latin typeface="Aptos"/>
              </a:rPr>
              <a:t>FraudeLink les ayuda a encontrarla antes de que se pierda.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5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texture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t>FRAUDELINK  /  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02 / 17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49808"/>
            <a:ext cx="10972800" cy="9326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t>Cada movimiento se ve normal. El grupo 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10881360" cy="5760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AFC3D6"/>
                </a:solidFill>
                <a:latin typeface="Aptos"/>
              </a:defRPr>
            </a:pPr>
            <a:r>
              <a:t>Imagínense este caso en su plataforma: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2331720"/>
            <a:ext cx="3246120" cy="2926080"/>
          </a:xfrm>
          <a:prstGeom prst="roundRect">
            <a:avLst>
              <a:gd name="adj" fmla="val 12000"/>
            </a:avLst>
          </a:prstGeom>
          <a:solidFill>
            <a:srgbClr val="0B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0119" y="2606040"/>
            <a:ext cx="731520" cy="731520"/>
          </a:xfrm>
          <a:prstGeom prst="ellipse">
            <a:avLst/>
          </a:prstGeom>
          <a:solidFill>
            <a:srgbClr val="12304F"/>
          </a:solidFill>
          <a:ln w="19050">
            <a:solidFill>
              <a:srgbClr val="20D6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FaCreditCard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788920"/>
            <a:ext cx="365760" cy="3657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874519" y="2542032"/>
            <a:ext cx="1828800" cy="9144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5400" b="1" i="0">
                <a:solidFill>
                  <a:srgbClr val="20D6E7"/>
                </a:solidFill>
                <a:latin typeface="Aptos"/>
              </a:rPr>
              <a:t>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19" y="3703320"/>
            <a:ext cx="2651760" cy="12801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700" b="0" i="0">
                <a:solidFill>
                  <a:srgbClr val="F5FAFF"/>
                </a:solidFill>
                <a:latin typeface="Aptos"/>
              </a:rPr>
              <a:t>cuentas abiertas con nombres distintos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3950208" y="3639312"/>
            <a:ext cx="411480" cy="292608"/>
          </a:xfrm>
          <a:prstGeom prst="rightArrow">
            <a:avLst/>
          </a:prstGeom>
          <a:solidFill>
            <a:srgbClr val="31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434840" y="2331720"/>
            <a:ext cx="3246120" cy="2926080"/>
          </a:xfrm>
          <a:prstGeom prst="roundRect">
            <a:avLst>
              <a:gd name="adj" fmla="val 12000"/>
            </a:avLst>
          </a:prstGeom>
          <a:solidFill>
            <a:srgbClr val="0B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754880" y="2606040"/>
            <a:ext cx="731520" cy="731520"/>
          </a:xfrm>
          <a:prstGeom prst="ellipse">
            <a:avLst/>
          </a:prstGeom>
          <a:solidFill>
            <a:srgbClr val="12304F"/>
          </a:solidFill>
          <a:ln w="19050">
            <a:solidFill>
              <a:srgbClr val="F26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FaMobileScreen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788920"/>
            <a:ext cx="365760" cy="3657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669280" y="2542032"/>
            <a:ext cx="1828800" cy="9144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5400" b="1" i="0">
                <a:solidFill>
                  <a:srgbClr val="F263A5"/>
                </a:solidFill>
                <a:latin typeface="Aptos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3703320"/>
            <a:ext cx="2651760" cy="12801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700" b="0" i="0">
                <a:solidFill>
                  <a:srgbClr val="F5FAFF"/>
                </a:solidFill>
                <a:latin typeface="Aptos"/>
              </a:rPr>
              <a:t>celulares desde donde se manejan todas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7744968" y="3639312"/>
            <a:ext cx="411480" cy="292608"/>
          </a:xfrm>
          <a:prstGeom prst="rightArrow">
            <a:avLst/>
          </a:prstGeom>
          <a:solidFill>
            <a:srgbClr val="31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229600" y="2331720"/>
            <a:ext cx="3246120" cy="2926080"/>
          </a:xfrm>
          <a:prstGeom prst="roundRect">
            <a:avLst>
              <a:gd name="adj" fmla="val 12000"/>
            </a:avLst>
          </a:prstGeom>
          <a:solidFill>
            <a:srgbClr val="0B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549640" y="2606040"/>
            <a:ext cx="731520" cy="731520"/>
          </a:xfrm>
          <a:prstGeom prst="ellipse">
            <a:avLst/>
          </a:prstGeom>
          <a:solidFill>
            <a:srgbClr val="12304F"/>
          </a:solidFill>
          <a:ln w="19050">
            <a:solidFill>
              <a:srgbClr val="FFB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FaArrowsRotate_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2520" y="2788920"/>
            <a:ext cx="365760" cy="36576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464040" y="2542032"/>
            <a:ext cx="1828800" cy="9144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5400" b="1" i="0">
                <a:solidFill>
                  <a:srgbClr val="FFBF66"/>
                </a:solidFill>
                <a:latin typeface="Aptos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3703320"/>
            <a:ext cx="2651760" cy="12801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700" b="0" i="0">
                <a:solidFill>
                  <a:srgbClr val="F5FAFF"/>
                </a:solidFill>
                <a:latin typeface="Aptos"/>
              </a:rPr>
              <a:t>círculo de transferencias para esconder de dónde viene la plata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700" b="0" i="0">
                <a:solidFill>
                  <a:srgbClr val="AFC3D6"/>
                </a:solidFill>
                <a:latin typeface="Aptos"/>
              </a:rPr>
              <a:t>Vistas una por una, todas las transferencias se ven inocentes. </a:t>
            </a:r>
            <a:r>
              <a:rPr sz="1700" b="1" i="0">
                <a:solidFill>
                  <a:srgbClr val="F5FAFF"/>
                </a:solidFill>
                <a:latin typeface="Aptos"/>
              </a:rPr>
              <a:t>Nadie levanta la mano.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5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7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5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texture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t>FRAUDELINK  /  EL COSTO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03 / 17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49808"/>
            <a:ext cx="10972800" cy="9326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t>¿Y quién paga eso? Ustedes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10881360" cy="5760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AFC3D6"/>
                </a:solidFill>
                <a:latin typeface="Aptos"/>
              </a:defRPr>
            </a:pPr>
            <a:r>
              <a:t>Mientras el grupo completo no se vea, el fraude sale caro todos los días.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2286000"/>
            <a:ext cx="10881360" cy="1115568"/>
          </a:xfrm>
          <a:prstGeom prst="roundRect">
            <a:avLst>
              <a:gd name="adj" fmla="val 20000"/>
            </a:avLst>
          </a:prstGeom>
          <a:solidFill>
            <a:srgbClr val="0B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23544" y="2468879"/>
            <a:ext cx="749808" cy="749808"/>
          </a:xfrm>
          <a:prstGeom prst="ellipse">
            <a:avLst/>
          </a:prstGeom>
          <a:solidFill>
            <a:srgbClr val="12304F"/>
          </a:solidFill>
          <a:ln w="19050">
            <a:solidFill>
              <a:srgbClr val="FFB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FaSackDollar_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995" y="2656332"/>
            <a:ext cx="374904" cy="37490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965960" y="2468880"/>
            <a:ext cx="4206240" cy="77724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2100" b="1" i="0">
                <a:solidFill>
                  <a:srgbClr val="FFBF66"/>
                </a:solidFill>
                <a:latin typeface="Aptos"/>
              </a:rPr>
              <a:t>La plata que no vuelve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468880"/>
            <a:ext cx="5029200" cy="77724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600" b="0" i="0">
                <a:solidFill>
                  <a:srgbClr val="F5FAFF"/>
                </a:solidFill>
                <a:latin typeface="Aptos"/>
              </a:rPr>
              <a:t>Cada colón que se va en un fraude se pierde.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584448"/>
            <a:ext cx="10881360" cy="1115568"/>
          </a:xfrm>
          <a:prstGeom prst="roundRect">
            <a:avLst>
              <a:gd name="adj" fmla="val 20000"/>
            </a:avLst>
          </a:prstGeom>
          <a:solidFill>
            <a:srgbClr val="0B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23544" y="3767328"/>
            <a:ext cx="749808" cy="749808"/>
          </a:xfrm>
          <a:prstGeom prst="ellipse">
            <a:avLst/>
          </a:prstGeom>
          <a:solidFill>
            <a:srgbClr val="12304F"/>
          </a:solidFill>
          <a:ln w="19050">
            <a:solidFill>
              <a:srgbClr val="20D6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aClock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5" y="3954780"/>
            <a:ext cx="374904" cy="37490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965960" y="3767328"/>
            <a:ext cx="4206240" cy="77724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2100" b="1" i="0">
                <a:solidFill>
                  <a:srgbClr val="20D6E7"/>
                </a:solidFill>
                <a:latin typeface="Aptos"/>
              </a:rPr>
              <a:t>Las horas de su equipo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767328"/>
            <a:ext cx="5029200" cy="77724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600" b="0" i="0">
                <a:solidFill>
                  <a:srgbClr val="F5FAFF"/>
                </a:solidFill>
                <a:latin typeface="Aptos"/>
              </a:rPr>
              <a:t>Revisando cuenta por cuenta, sin saber por dónde empezar.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882896"/>
            <a:ext cx="10881360" cy="1115568"/>
          </a:xfrm>
          <a:prstGeom prst="roundRect">
            <a:avLst>
              <a:gd name="adj" fmla="val 20000"/>
            </a:avLst>
          </a:prstGeom>
          <a:solidFill>
            <a:srgbClr val="0B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23544" y="5065776"/>
            <a:ext cx="749808" cy="749808"/>
          </a:xfrm>
          <a:prstGeom prst="ellipse">
            <a:avLst/>
          </a:prstGeom>
          <a:solidFill>
            <a:srgbClr val="12304F"/>
          </a:solidFill>
          <a:ln w="19050">
            <a:solidFill>
              <a:srgbClr val="F26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FaUserXmark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0995" y="5253228"/>
            <a:ext cx="374904" cy="37490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965960" y="5065776"/>
            <a:ext cx="4206240" cy="77724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2100" b="1" i="0">
                <a:solidFill>
                  <a:srgbClr val="F263A5"/>
                </a:solidFill>
                <a:latin typeface="Aptos"/>
              </a:rPr>
              <a:t>Los clientes y el nombre de la empresa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5065776"/>
            <a:ext cx="5029200" cy="77724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600" b="0" i="0">
                <a:solidFill>
                  <a:srgbClr val="F5FAFF"/>
                </a:solidFill>
                <a:latin typeface="Aptos"/>
              </a:rPr>
              <a:t>Los clientes honestos se van cuando sienten que su dinero no está seguro.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texture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t>FRAUDELINK  /  LA PROPUESTA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04 / 17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49808"/>
            <a:ext cx="10972800" cy="9326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t>Un solo mapa para ver al grupo completo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10881360" cy="5760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AFC3D6"/>
                </a:solidFill>
                <a:latin typeface="Aptos"/>
              </a:defRPr>
            </a:pPr>
            <a:r>
              <a:t>Quién tiene qué cuenta, desde qué celular se conecta y a quién le manda plata.</a:t>
            </a:r>
          </a:p>
        </p:txBody>
      </p:sp>
      <p:sp>
        <p:nvSpPr>
          <p:cNvPr id="21" name="Oval 20"/>
          <p:cNvSpPr/>
          <p:nvPr/>
        </p:nvSpPr>
        <p:spPr>
          <a:xfrm>
            <a:off x="694943" y="2404872"/>
            <a:ext cx="713232" cy="713232"/>
          </a:xfrm>
          <a:prstGeom prst="ellipse">
            <a:avLst/>
          </a:prstGeom>
          <a:solidFill>
            <a:srgbClr val="12304F"/>
          </a:solidFill>
          <a:ln w="19050">
            <a:solidFill>
              <a:srgbClr val="20D6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FaEy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1" y="2583180"/>
            <a:ext cx="356616" cy="35661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645920" y="2395728"/>
            <a:ext cx="4754880" cy="8229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2000" b="1" i="0">
                <a:solidFill>
                  <a:srgbClr val="F5FAFF"/>
                </a:solidFill>
                <a:latin typeface="Aptos"/>
              </a:rPr>
              <a:t>Ver de un vistazo</a:t>
            </a:r>
          </a:p>
          <a:p>
            <a:pPr algn="l"/>
            <a:r>
              <a:rPr sz="1600" b="0" i="0">
                <a:solidFill>
                  <a:srgbClr val="AFC3D6"/>
                </a:solidFill>
                <a:latin typeface="Aptos"/>
              </a:rPr>
              <a:t>quién está conectado con quién.</a:t>
            </a:r>
          </a:p>
        </p:txBody>
      </p:sp>
      <p:sp>
        <p:nvSpPr>
          <p:cNvPr id="24" name="Oval 23"/>
          <p:cNvSpPr/>
          <p:nvPr/>
        </p:nvSpPr>
        <p:spPr>
          <a:xfrm>
            <a:off x="694943" y="3483864"/>
            <a:ext cx="713232" cy="713232"/>
          </a:xfrm>
          <a:prstGeom prst="ellipse">
            <a:avLst/>
          </a:prstGeom>
          <a:solidFill>
            <a:srgbClr val="12304F"/>
          </a:solidFill>
          <a:ln w="19050">
            <a:solidFill>
              <a:srgbClr val="F26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FaRoute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1" y="3662172"/>
            <a:ext cx="356616" cy="35661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645920" y="3474720"/>
            <a:ext cx="4754880" cy="8229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2000" b="1" i="0">
                <a:solidFill>
                  <a:srgbClr val="F5FAFF"/>
                </a:solidFill>
                <a:latin typeface="Aptos"/>
              </a:rPr>
              <a:t>Explicar con pelos y señales</a:t>
            </a:r>
          </a:p>
          <a:p>
            <a:pPr algn="l"/>
            <a:r>
              <a:rPr sz="1600" b="0" i="0">
                <a:solidFill>
                  <a:srgbClr val="AFC3D6"/>
                </a:solidFill>
                <a:latin typeface="Aptos"/>
              </a:rPr>
              <a:t>por qué una cuenta es sospechosa.</a:t>
            </a:r>
          </a:p>
        </p:txBody>
      </p:sp>
      <p:sp>
        <p:nvSpPr>
          <p:cNvPr id="27" name="Oval 26"/>
          <p:cNvSpPr/>
          <p:nvPr/>
        </p:nvSpPr>
        <p:spPr>
          <a:xfrm>
            <a:off x="694943" y="4562856"/>
            <a:ext cx="713232" cy="713232"/>
          </a:xfrm>
          <a:prstGeom prst="ellipse">
            <a:avLst/>
          </a:prstGeom>
          <a:solidFill>
            <a:srgbClr val="12304F"/>
          </a:solidFill>
          <a:ln w="19050">
            <a:solidFill>
              <a:srgbClr val="FFB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FaListOl_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251" y="4741164"/>
            <a:ext cx="356616" cy="35661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645920" y="4553712"/>
            <a:ext cx="4754880" cy="8229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2000" b="1" i="0">
                <a:solidFill>
                  <a:srgbClr val="F5FAFF"/>
                </a:solidFill>
                <a:latin typeface="Aptos"/>
              </a:rPr>
              <a:t>Saber por dónde empezar</a:t>
            </a:r>
          </a:p>
          <a:p>
            <a:pPr algn="l"/>
            <a:r>
              <a:rPr sz="1600" b="0" i="0">
                <a:solidFill>
                  <a:srgbClr val="AFC3D6"/>
                </a:solidFill>
                <a:latin typeface="Aptos"/>
              </a:rPr>
              <a:t>y dejar de perder tiempo.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03720" y="2240280"/>
            <a:ext cx="4617720" cy="3429000"/>
          </a:xfrm>
          <a:prstGeom prst="roundRect">
            <a:avLst>
              <a:gd name="adj" fmla="val 10000"/>
            </a:avLst>
          </a:prstGeom>
          <a:solidFill>
            <a:srgbClr val="0B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78040" y="2423160"/>
            <a:ext cx="4069080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200" b="1" i="0">
                <a:solidFill>
                  <a:srgbClr val="AFC3D6"/>
                </a:solidFill>
                <a:latin typeface="Aptos"/>
              </a:rPr>
              <a:t>DE TODAS SUS CUENTAS…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2697480"/>
            <a:ext cx="2194560" cy="8229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4400" b="1" i="0">
                <a:solidFill>
                  <a:srgbClr val="AFC3D6"/>
                </a:solidFill>
                <a:latin typeface="Aptos"/>
              </a:rPr>
              <a:t>5 000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235440" y="3017520"/>
            <a:ext cx="457200" cy="329184"/>
          </a:xfrm>
          <a:prstGeom prst="rightArrow">
            <a:avLst/>
          </a:prstGeom>
          <a:solidFill>
            <a:srgbClr val="20D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829800" y="2514600"/>
            <a:ext cx="1554480" cy="10972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7200" b="1" i="0">
                <a:solidFill>
                  <a:srgbClr val="20D6E7"/>
                </a:solidFill>
                <a:latin typeface="Apto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3886200"/>
            <a:ext cx="4069080" cy="1463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F5FAFF"/>
                </a:solidFill>
                <a:latin typeface="Aptos"/>
              </a:rPr>
              <a:t>…FraudeLink les dice cuáles 5 revisar primero.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FBF66"/>
                </a:solidFill>
                <a:latin typeface="Aptos"/>
              </a:rPr>
              <a:t>Menos tiempo buscando, menos plata perdida.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5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texture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t>FRAUDELINK  /  POR QUÉ UN MAPA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05 / 17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49808"/>
            <a:ext cx="10972800" cy="5232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rPr lang="en-US" sz="3400" b="1" dirty="0">
                <a:solidFill>
                  <a:srgbClr val="F5FAFF"/>
                </a:solidFill>
                <a:latin typeface="Aptos"/>
              </a:rPr>
              <a:t>Un mapa, no un montón de hojas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10881360" cy="5760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AFC3D6"/>
                </a:solidFill>
                <a:latin typeface="Aptos"/>
              </a:defRPr>
            </a:pPr>
            <a:r>
              <a:t>Seguir la plata no debería ser saltar de tabla en tabla.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240280"/>
            <a:ext cx="5029200" cy="3611880"/>
          </a:xfrm>
          <a:prstGeom prst="roundRect">
            <a:avLst>
              <a:gd name="adj" fmla="val 12000"/>
            </a:avLst>
          </a:prstGeom>
          <a:solidFill>
            <a:srgbClr val="0B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59536" y="2459736"/>
            <a:ext cx="749808" cy="749808"/>
          </a:xfrm>
          <a:prstGeom prst="ellipse">
            <a:avLst/>
          </a:prstGeom>
          <a:solidFill>
            <a:srgbClr val="12304F"/>
          </a:solidFill>
          <a:ln w="19050">
            <a:solidFill>
              <a:srgbClr val="F26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FaTable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" y="2647188"/>
            <a:ext cx="374904" cy="37490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783080" y="2606040"/>
            <a:ext cx="356616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2000" b="1" i="0">
                <a:solidFill>
                  <a:srgbClr val="F263A5"/>
                </a:solidFill>
                <a:latin typeface="Aptos"/>
              </a:rPr>
              <a:t>HOY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520440"/>
            <a:ext cx="4480560" cy="6400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600" b="1" i="0">
                <a:solidFill>
                  <a:srgbClr val="F263A5"/>
                </a:solidFill>
                <a:latin typeface="Aptos"/>
              </a:rPr>
              <a:t>✕  </a:t>
            </a:r>
            <a:r>
              <a:rPr sz="1600" b="0" i="0">
                <a:solidFill>
                  <a:srgbClr val="AFC3D6"/>
                </a:solidFill>
                <a:latin typeface="Aptos"/>
              </a:rPr>
              <a:t>Información repartida en hojas separadas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233672"/>
            <a:ext cx="4480560" cy="6400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600" b="1" i="0">
                <a:solidFill>
                  <a:srgbClr val="F263A5"/>
                </a:solidFill>
                <a:latin typeface="Aptos"/>
              </a:rPr>
              <a:t>✕  </a:t>
            </a:r>
            <a:r>
              <a:rPr sz="1600" b="0" i="0">
                <a:solidFill>
                  <a:srgbClr val="AFC3D6"/>
                </a:solidFill>
                <a:latin typeface="Aptos"/>
              </a:rPr>
              <a:t>Cruzar datos a mano, hoja por hoja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946904"/>
            <a:ext cx="4480560" cy="6400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600" b="1" i="0">
                <a:solidFill>
                  <a:srgbClr val="F263A5"/>
                </a:solidFill>
                <a:latin typeface="Aptos"/>
              </a:rPr>
              <a:t>✕  </a:t>
            </a:r>
            <a:r>
              <a:rPr sz="1600" b="0" i="0">
                <a:solidFill>
                  <a:srgbClr val="AFC3D6"/>
                </a:solidFill>
                <a:latin typeface="Aptos"/>
              </a:rPr>
              <a:t>Las conexiones se pierden en el camino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806440" y="3840480"/>
            <a:ext cx="548640" cy="411480"/>
          </a:xfrm>
          <a:prstGeom prst="rightArrow">
            <a:avLst/>
          </a:prstGeom>
          <a:solidFill>
            <a:srgbClr val="20D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92240" y="2240280"/>
            <a:ext cx="5029200" cy="3611880"/>
          </a:xfrm>
          <a:prstGeom prst="roundRect">
            <a:avLst>
              <a:gd name="adj" fmla="val 12000"/>
            </a:avLst>
          </a:prstGeom>
          <a:solidFill>
            <a:srgbClr val="0B203B"/>
          </a:solidFill>
          <a:ln w="15875">
            <a:solidFill>
              <a:srgbClr val="20D6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711696" y="2459736"/>
            <a:ext cx="749808" cy="749808"/>
          </a:xfrm>
          <a:prstGeom prst="ellipse">
            <a:avLst/>
          </a:prstGeom>
          <a:solidFill>
            <a:srgbClr val="12304F"/>
          </a:solidFill>
          <a:ln w="19050">
            <a:solidFill>
              <a:srgbClr val="20D6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FaCircleNodes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9148" y="2647188"/>
            <a:ext cx="374904" cy="37490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635240" y="2606040"/>
            <a:ext cx="356616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2000" b="1" i="0">
                <a:solidFill>
                  <a:srgbClr val="20D6E7"/>
                </a:solidFill>
                <a:latin typeface="Aptos"/>
              </a:rPr>
              <a:t>CON FRAUDELINK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3520440"/>
            <a:ext cx="4480560" cy="6400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600" b="1" i="0">
                <a:solidFill>
                  <a:srgbClr val="20D6E7"/>
                </a:solidFill>
                <a:latin typeface="Aptos"/>
              </a:rPr>
              <a:t>✓  </a:t>
            </a:r>
            <a:r>
              <a:rPr sz="1600" b="0" i="0">
                <a:solidFill>
                  <a:srgbClr val="F5FAFF"/>
                </a:solidFill>
                <a:latin typeface="Aptos"/>
              </a:rPr>
              <a:t>Todo en un solo mapa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4233672"/>
            <a:ext cx="4480560" cy="6400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600" b="1" i="0">
                <a:solidFill>
                  <a:srgbClr val="20D6E7"/>
                </a:solidFill>
                <a:latin typeface="Aptos"/>
              </a:rPr>
              <a:t>✓  </a:t>
            </a:r>
            <a:r>
              <a:rPr sz="1600" b="0" i="0">
                <a:solidFill>
                  <a:srgbClr val="F5FAFF"/>
                </a:solidFill>
                <a:latin typeface="Aptos"/>
              </a:rPr>
              <a:t>Para seguir la plata, se sigue la raya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4946904"/>
            <a:ext cx="4480560" cy="6400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600" b="1" i="0">
                <a:solidFill>
                  <a:srgbClr val="20D6E7"/>
                </a:solidFill>
                <a:latin typeface="Aptos"/>
              </a:rPr>
              <a:t>✓  </a:t>
            </a:r>
            <a:r>
              <a:rPr sz="1600" b="0" i="0">
                <a:solidFill>
                  <a:srgbClr val="F5FAFF"/>
                </a:solidFill>
                <a:latin typeface="Aptos"/>
              </a:rPr>
              <a:t>Las conexiones saltan a la vista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texture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t>FRAUDELINK  /  LO QUE LES AHORRA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06 / 17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49808"/>
            <a:ext cx="10972800" cy="5232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rPr lang="en-US" sz="3400" b="1" dirty="0" err="1">
                <a:solidFill>
                  <a:srgbClr val="F5FAFF"/>
                </a:solidFill>
                <a:latin typeface="Aptos"/>
              </a:rPr>
              <a:t>Reaccionar el mismo día, no al mes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566928" y="1572768"/>
            <a:ext cx="10881360" cy="246221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AFC3D6"/>
                </a:solidFill>
                <a:latin typeface="Aptos"/>
              </a:defRPr>
            </a:pPr>
            <a:r>
              <a:rPr lang="en-US" sz="1600" dirty="0" err="1">
                <a:solidFill>
                  <a:srgbClr val="AFC3D6"/>
                </a:solidFill>
                <a:latin typeface="Aptos"/>
              </a:rPr>
              <a:t>Los estafadores cambian de truco todo el tiempo. Su equipo tiene que poder seguirles el paso.</a:t>
            </a:r>
            <a:endParaRPr dirty="0"/>
          </a:p>
        </p:txBody>
      </p:sp>
      <p:sp>
        <p:nvSpPr>
          <p:cNvPr id="30" name="Rounded Rectangle 29"/>
          <p:cNvSpPr/>
          <p:nvPr/>
        </p:nvSpPr>
        <p:spPr>
          <a:xfrm>
            <a:off x="640080" y="2240280"/>
            <a:ext cx="5257800" cy="2514600"/>
          </a:xfrm>
          <a:prstGeom prst="roundRect">
            <a:avLst>
              <a:gd name="adj" fmla="val 12000"/>
            </a:avLst>
          </a:prstGeom>
          <a:solidFill>
            <a:srgbClr val="0B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2423160"/>
            <a:ext cx="47548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AFC3D6"/>
                </a:solidFill>
                <a:latin typeface="Aptos"/>
              </a:rPr>
              <a:t>EL SISTEMA DE SIEMPRE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2743200"/>
            <a:ext cx="1737360" cy="10972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6600" b="1" i="0">
                <a:solidFill>
                  <a:srgbClr val="F263A5"/>
                </a:solidFill>
                <a:latin typeface="Aptos"/>
              </a:rPr>
              <a:t>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4600" y="2926080"/>
            <a:ext cx="3200400" cy="11887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600" b="0" i="0">
                <a:solidFill>
                  <a:srgbClr val="F5FAFF"/>
                </a:solidFill>
                <a:latin typeface="Aptos"/>
              </a:rPr>
              <a:t>cruces de tablas para calcular el riesgo de una sola cuenta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069080"/>
            <a:ext cx="4754880" cy="5486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400" b="0" i="1">
                <a:solidFill>
                  <a:srgbClr val="AFC3D6"/>
                </a:solidFill>
                <a:latin typeface="Aptos"/>
              </a:rPr>
              <a:t>Cada truco nuevo es una búsqueda nueva desde cero.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2240280"/>
            <a:ext cx="5257800" cy="2514600"/>
          </a:xfrm>
          <a:prstGeom prst="roundRect">
            <a:avLst>
              <a:gd name="adj" fmla="val 12000"/>
            </a:avLst>
          </a:prstGeom>
          <a:solidFill>
            <a:srgbClr val="0B203B"/>
          </a:solidFill>
          <a:ln w="15875">
            <a:solidFill>
              <a:srgbClr val="FFB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37960" y="2423160"/>
            <a:ext cx="47548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FFBF66"/>
                </a:solidFill>
                <a:latin typeface="Aptos"/>
              </a:rPr>
              <a:t>CON FRAUDELINK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2880360"/>
            <a:ext cx="4754880" cy="7315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4000" b="1" i="0">
                <a:solidFill>
                  <a:srgbClr val="AFC3D6"/>
                </a:solidFill>
                <a:latin typeface="Aptos"/>
              </a:rPr>
              <a:t>3..4</a:t>
            </a:r>
            <a:r>
              <a:rPr sz="4000" b="1" i="0">
                <a:solidFill>
                  <a:srgbClr val="FFBF66"/>
                </a:solidFill>
                <a:latin typeface="Aptos"/>
              </a:rPr>
              <a:t>  →  3..5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3703320"/>
            <a:ext cx="4754880" cy="8229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600" b="0" i="0">
                <a:solidFill>
                  <a:srgbClr val="F5FAFF"/>
                </a:solidFill>
                <a:latin typeface="Aptos"/>
              </a:rPr>
              <a:t>Se cambia un detalle y la búsqueda completa se adapta.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4983480"/>
            <a:ext cx="10881360" cy="914400"/>
          </a:xfrm>
          <a:prstGeom prst="roundRect">
            <a:avLst>
              <a:gd name="adj" fmla="val 25000"/>
            </a:avLst>
          </a:prstGeom>
          <a:solidFill>
            <a:srgbClr val="12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05256" y="5157216"/>
            <a:ext cx="566928" cy="566928"/>
          </a:xfrm>
          <a:prstGeom prst="ellipse">
            <a:avLst/>
          </a:prstGeom>
          <a:solidFill>
            <a:srgbClr val="12304F"/>
          </a:solidFill>
          <a:ln w="19050">
            <a:solidFill>
              <a:srgbClr val="20D6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FaBolt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" y="5298948"/>
            <a:ext cx="283464" cy="28346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691640" y="5120640"/>
            <a:ext cx="9601200" cy="64008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600" b="1" i="0">
                <a:solidFill>
                  <a:srgbClr val="20D6E7"/>
                </a:solidFill>
                <a:latin typeface="Aptos"/>
              </a:rPr>
              <a:t>Construido con Neo4j</a:t>
            </a:r>
            <a:r>
              <a:rPr sz="1600" b="0" i="0">
                <a:solidFill>
                  <a:srgbClr val="F5FAFF"/>
                </a:solidFill>
                <a:latin typeface="Aptos"/>
              </a:rPr>
              <a:t>, la herramienta más usada en el mundo para mapas de conexiones. </a:t>
            </a:r>
            <a:r>
              <a:rPr sz="1600" b="1" i="0">
                <a:solidFill>
                  <a:srgbClr val="FFBF66"/>
                </a:solidFill>
                <a:latin typeface="Aptos"/>
              </a:rPr>
              <a:t>Y es gratis.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7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texture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t>FRAUDELINK  /  CÓMO SE 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07 / 17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49808"/>
            <a:ext cx="10972800" cy="9326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t>Cinco piezas, una sola 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10881360" cy="5760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AFC3D6"/>
                </a:solidFill>
                <a:latin typeface="Aptos"/>
              </a:defRPr>
            </a:pPr>
            <a:r>
              <a:t>Así se ve su información dentro de FraudeLink.</a:t>
            </a: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6D7D7438-9221-FEFB-8900-D7934747D56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" y="2057400"/>
            <a:ext cx="4475747" cy="4251960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5349240" y="2240280"/>
            <a:ext cx="1993392" cy="685800"/>
          </a:xfrm>
          <a:prstGeom prst="roundRect">
            <a:avLst>
              <a:gd name="adj" fmla="val 35000"/>
            </a:avLst>
          </a:prstGeom>
          <a:solidFill>
            <a:srgbClr val="0B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486400" y="2354580"/>
            <a:ext cx="457200" cy="457200"/>
          </a:xfrm>
          <a:prstGeom prst="ellipse">
            <a:avLst/>
          </a:prstGeom>
          <a:solidFill>
            <a:srgbClr val="12304F"/>
          </a:solidFill>
          <a:ln w="19050">
            <a:solidFill>
              <a:srgbClr val="20D6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FaUser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0700" y="2468880"/>
            <a:ext cx="228600" cy="2286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025896" y="2423160"/>
            <a:ext cx="1298448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400" b="1" i="0">
                <a:solidFill>
                  <a:srgbClr val="F5FAFF"/>
                </a:solidFill>
                <a:latin typeface="Aptos"/>
              </a:rPr>
              <a:t>Personas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34071" y="2240280"/>
            <a:ext cx="1993392" cy="685800"/>
          </a:xfrm>
          <a:prstGeom prst="roundRect">
            <a:avLst>
              <a:gd name="adj" fmla="val 35000"/>
            </a:avLst>
          </a:prstGeom>
          <a:solidFill>
            <a:srgbClr val="0B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7571231" y="2354580"/>
            <a:ext cx="457200" cy="457200"/>
          </a:xfrm>
          <a:prstGeom prst="ellipse">
            <a:avLst/>
          </a:prstGeom>
          <a:solidFill>
            <a:srgbClr val="12304F"/>
          </a:solidFill>
          <a:ln w="19050">
            <a:solidFill>
              <a:srgbClr val="F26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FaCreditCard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5531" y="2468880"/>
            <a:ext cx="228600" cy="2286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110727" y="2423160"/>
            <a:ext cx="1298448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400" b="1" i="0">
                <a:solidFill>
                  <a:srgbClr val="F5FAFF"/>
                </a:solidFill>
                <a:latin typeface="Aptos"/>
              </a:rPr>
              <a:t>Cuentas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18904" y="2240280"/>
            <a:ext cx="1993392" cy="685800"/>
          </a:xfrm>
          <a:prstGeom prst="roundRect">
            <a:avLst>
              <a:gd name="adj" fmla="val 35000"/>
            </a:avLst>
          </a:prstGeom>
          <a:solidFill>
            <a:srgbClr val="0B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656064" y="2354580"/>
            <a:ext cx="457200" cy="457200"/>
          </a:xfrm>
          <a:prstGeom prst="ellipse">
            <a:avLst/>
          </a:prstGeom>
          <a:solidFill>
            <a:srgbClr val="12304F"/>
          </a:solidFill>
          <a:ln w="19050">
            <a:solidFill>
              <a:srgbClr val="FFB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FaMobileScreen_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0364" y="2468880"/>
            <a:ext cx="228600" cy="2286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195560" y="2423160"/>
            <a:ext cx="1298448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400" b="1" i="0">
                <a:solidFill>
                  <a:srgbClr val="F5FAFF"/>
                </a:solidFill>
                <a:latin typeface="Aptos"/>
              </a:rPr>
              <a:t>Celulares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349240" y="3108960"/>
            <a:ext cx="1993392" cy="685800"/>
          </a:xfrm>
          <a:prstGeom prst="roundRect">
            <a:avLst>
              <a:gd name="adj" fmla="val 35000"/>
            </a:avLst>
          </a:prstGeom>
          <a:solidFill>
            <a:srgbClr val="0B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5486400" y="3223260"/>
            <a:ext cx="457200" cy="457200"/>
          </a:xfrm>
          <a:prstGeom prst="ellipse">
            <a:avLst/>
          </a:prstGeom>
          <a:solidFill>
            <a:srgbClr val="12304F"/>
          </a:solidFill>
          <a:ln w="19050">
            <a:solidFill>
              <a:srgbClr val="20D6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FaWifi_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0700" y="3337560"/>
            <a:ext cx="228600" cy="2286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025896" y="3291840"/>
            <a:ext cx="1298448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400" b="1" i="0">
                <a:solidFill>
                  <a:srgbClr val="F5FAFF"/>
                </a:solidFill>
                <a:latin typeface="Aptos"/>
              </a:rPr>
              <a:t>Internet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34071" y="3108960"/>
            <a:ext cx="1993392" cy="685800"/>
          </a:xfrm>
          <a:prstGeom prst="roundRect">
            <a:avLst>
              <a:gd name="adj" fmla="val 35000"/>
            </a:avLst>
          </a:prstGeom>
          <a:solidFill>
            <a:srgbClr val="0B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7571231" y="3223260"/>
            <a:ext cx="457200" cy="457200"/>
          </a:xfrm>
          <a:prstGeom prst="ellipse">
            <a:avLst/>
          </a:prstGeom>
          <a:solidFill>
            <a:srgbClr val="12304F"/>
          </a:solidFill>
          <a:ln w="19050">
            <a:solidFill>
              <a:srgbClr val="F26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3" name="Picture 52" descr="FaStore_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5531" y="3337560"/>
            <a:ext cx="228600" cy="2286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110727" y="3291840"/>
            <a:ext cx="1298448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400" b="1" i="0">
                <a:solidFill>
                  <a:srgbClr val="F5FAFF"/>
                </a:solidFill>
                <a:latin typeface="Aptos"/>
              </a:rPr>
              <a:t>Comercios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349240" y="4114800"/>
            <a:ext cx="6172200" cy="1143000"/>
          </a:xfrm>
          <a:prstGeom prst="roundRect">
            <a:avLst>
              <a:gd name="adj" fmla="val 18000"/>
            </a:avLst>
          </a:prstGeom>
          <a:solidFill>
            <a:srgbClr val="0B203B"/>
          </a:solidFill>
          <a:ln w="15875">
            <a:solidFill>
              <a:srgbClr val="FFB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623560" y="4224528"/>
            <a:ext cx="5669280" cy="9601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600" b="1" i="0">
                <a:solidFill>
                  <a:srgbClr val="FFBF66"/>
                </a:solidFill>
                <a:latin typeface="Aptos"/>
              </a:rPr>
              <a:t>9 personas, 1 celular. </a:t>
            </a:r>
            <a:r>
              <a:rPr sz="1600" b="0" i="0">
                <a:solidFill>
                  <a:srgbClr val="F5FAFF"/>
                </a:solidFill>
                <a:latin typeface="Aptos"/>
              </a:rPr>
              <a:t>En una tabla nadie lo nota; en el mapa, nueve rayas llegan al mismo punto.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49240" y="5440680"/>
            <a:ext cx="617220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800" b="1" i="0">
                <a:solidFill>
                  <a:srgbClr val="20D6E7"/>
                </a:solidFill>
                <a:latin typeface="Aptos"/>
              </a:rPr>
              <a:t>12 500</a:t>
            </a:r>
            <a:r>
              <a:rPr sz="1800" b="0" i="0">
                <a:solidFill>
                  <a:srgbClr val="AFC3D6"/>
                </a:solidFill>
                <a:latin typeface="Aptos"/>
              </a:rPr>
              <a:t> puntos   ·   </a:t>
            </a:r>
            <a:r>
              <a:rPr sz="1800" b="1" i="0">
                <a:solidFill>
                  <a:srgbClr val="F263A5"/>
                </a:solidFill>
                <a:latin typeface="Aptos"/>
              </a:rPr>
              <a:t>66 007</a:t>
            </a:r>
            <a:r>
              <a:rPr sz="1800" b="0" i="0">
                <a:solidFill>
                  <a:srgbClr val="AFC3D6"/>
                </a:solidFill>
                <a:latin typeface="Aptos"/>
              </a:rPr>
              <a:t> conexiones probadas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5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4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75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10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45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texture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t>FRAUDELINK  /  LO PUSIMOS A PRUEBA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08 / 17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49808"/>
            <a:ext cx="10972800" cy="9326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t>Lo pusimos a prueba antes de venir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10881360" cy="5760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AFC3D6"/>
                </a:solidFill>
                <a:latin typeface="Aptos"/>
              </a:defRPr>
            </a:pPr>
            <a:r>
              <a:t>Escondimos dos círculos de plata entre 30 000 transferencias normales.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920240" y="2377440"/>
            <a:ext cx="2194560" cy="365760"/>
          </a:xfrm>
          <a:prstGeom prst="line">
            <a:avLst/>
          </a:prstGeom>
          <a:ln w="25400">
            <a:solidFill>
              <a:srgbClr val="2D7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154680" y="2377440"/>
            <a:ext cx="960120" cy="2011680"/>
          </a:xfrm>
          <a:prstGeom prst="line">
            <a:avLst/>
          </a:prstGeom>
          <a:ln w="25400">
            <a:solidFill>
              <a:srgbClr val="2D7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1920240" y="2743200"/>
            <a:ext cx="1234440" cy="1645920"/>
          </a:xfrm>
          <a:prstGeom prst="line">
            <a:avLst/>
          </a:prstGeom>
          <a:ln w="25400">
            <a:solidFill>
              <a:srgbClr val="2D7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792224" y="2615184"/>
            <a:ext cx="256032" cy="256032"/>
          </a:xfrm>
          <a:prstGeom prst="ellipse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879092" y="2702052"/>
            <a:ext cx="82296" cy="82296"/>
          </a:xfrm>
          <a:prstGeom prst="ellipse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986784" y="2249424"/>
            <a:ext cx="256032" cy="256032"/>
          </a:xfrm>
          <a:prstGeom prst="ellipse">
            <a:avLst/>
          </a:prstGeom>
          <a:solidFill>
            <a:srgbClr val="F26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073652" y="2336292"/>
            <a:ext cx="82296" cy="82296"/>
          </a:xfrm>
          <a:prstGeom prst="ellipse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026664" y="4261104"/>
            <a:ext cx="256032" cy="256032"/>
          </a:xfrm>
          <a:prstGeom prst="ellipse">
            <a:avLst/>
          </a:prstGeom>
          <a:solidFill>
            <a:srgbClr val="FFB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113532" y="4347972"/>
            <a:ext cx="82296" cy="82296"/>
          </a:xfrm>
          <a:prstGeom prst="ellipse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 flipV="1">
            <a:off x="7315200" y="2286000"/>
            <a:ext cx="1828800" cy="137160"/>
          </a:xfrm>
          <a:prstGeom prst="line">
            <a:avLst/>
          </a:prstGeom>
          <a:ln w="25400">
            <a:solidFill>
              <a:srgbClr val="2D7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144000" y="2286000"/>
            <a:ext cx="1005840" cy="1463039"/>
          </a:xfrm>
          <a:prstGeom prst="line">
            <a:avLst/>
          </a:prstGeom>
          <a:ln w="25400">
            <a:solidFill>
              <a:srgbClr val="2D7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818120" y="3749039"/>
            <a:ext cx="2331720" cy="731521"/>
          </a:xfrm>
          <a:prstGeom prst="line">
            <a:avLst/>
          </a:prstGeom>
          <a:ln w="25400">
            <a:solidFill>
              <a:srgbClr val="2D7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7315200" y="2423160"/>
            <a:ext cx="502920" cy="2057400"/>
          </a:xfrm>
          <a:prstGeom prst="line">
            <a:avLst/>
          </a:prstGeom>
          <a:ln w="25400">
            <a:solidFill>
              <a:srgbClr val="2D7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187184" y="2295144"/>
            <a:ext cx="256032" cy="256032"/>
          </a:xfrm>
          <a:prstGeom prst="ellipse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274052" y="2382012"/>
            <a:ext cx="82296" cy="82296"/>
          </a:xfrm>
          <a:prstGeom prst="ellipse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015984" y="2157984"/>
            <a:ext cx="256032" cy="256032"/>
          </a:xfrm>
          <a:prstGeom prst="ellipse">
            <a:avLst/>
          </a:prstGeom>
          <a:solidFill>
            <a:srgbClr val="F26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102852" y="2244852"/>
            <a:ext cx="82296" cy="82296"/>
          </a:xfrm>
          <a:prstGeom prst="ellipse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021824" y="3621023"/>
            <a:ext cx="256032" cy="256032"/>
          </a:xfrm>
          <a:prstGeom prst="ellipse">
            <a:avLst/>
          </a:prstGeom>
          <a:solidFill>
            <a:srgbClr val="FFB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108692" y="3707891"/>
            <a:ext cx="82296" cy="82296"/>
          </a:xfrm>
          <a:prstGeom prst="ellipse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690104" y="4352544"/>
            <a:ext cx="256032" cy="256032"/>
          </a:xfrm>
          <a:prstGeom prst="ellipse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776972" y="4439412"/>
            <a:ext cx="82296" cy="82296"/>
          </a:xfrm>
          <a:prstGeom prst="ellipse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FaCircleCheck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946904"/>
            <a:ext cx="384048" cy="38404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463040" y="4983480"/>
            <a:ext cx="38404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500" b="1" i="0">
                <a:solidFill>
                  <a:srgbClr val="F5FAFF"/>
                </a:solidFill>
                <a:latin typeface="Aptos"/>
              </a:rPr>
              <a:t>CÍRCULO DE 3 CUENTAS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5330952"/>
            <a:ext cx="3840480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400" b="0" i="1">
                <a:solidFill>
                  <a:srgbClr val="20D6E7"/>
                </a:solidFill>
                <a:latin typeface="Aptos"/>
              </a:rPr>
              <a:t>Encontrado</a:t>
            </a:r>
          </a:p>
        </p:txBody>
      </p:sp>
      <p:pic>
        <p:nvPicPr>
          <p:cNvPr id="37" name="Picture 36" descr="FaCircleCheck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4946904"/>
            <a:ext cx="384048" cy="38404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040879" y="4983480"/>
            <a:ext cx="38404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500" b="1" i="0">
                <a:solidFill>
                  <a:srgbClr val="F5FAFF"/>
                </a:solidFill>
                <a:latin typeface="Aptos"/>
              </a:rPr>
              <a:t>CÍRCULO DE 4 CUENTAS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79" y="5330952"/>
            <a:ext cx="3840480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400" b="0" i="1">
                <a:solidFill>
                  <a:srgbClr val="20D6E7"/>
                </a:solidFill>
                <a:latin typeface="Aptos"/>
              </a:rPr>
              <a:t>Encontrado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800" b="0" i="0">
                <a:solidFill>
                  <a:srgbClr val="AFC3D6"/>
                </a:solidFill>
                <a:latin typeface="Aptos"/>
              </a:rPr>
              <a:t>Resultado: </a:t>
            </a:r>
            <a:r>
              <a:rPr sz="1800" b="1" i="0">
                <a:solidFill>
                  <a:srgbClr val="FFBF66"/>
                </a:solidFill>
                <a:latin typeface="Aptos"/>
              </a:rPr>
              <a:t>FraudeLink encontró los dos.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7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5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400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texture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t>FRAUDELINK  /  CONFIANZA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09 / 17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49808"/>
            <a:ext cx="10972800" cy="9326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t>Alarmas que se pueden explicar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10881360" cy="5760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AFC3D6"/>
                </a:solidFill>
                <a:latin typeface="Aptos"/>
              </a:defRPr>
            </a:pPr>
            <a:r>
              <a:t>FraudeLink no les dice “confíen en mí”: les muestra por qué.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2240280"/>
            <a:ext cx="4846320" cy="1691640"/>
          </a:xfrm>
          <a:prstGeom prst="roundRect">
            <a:avLst>
              <a:gd name="adj" fmla="val 12000"/>
            </a:avLst>
          </a:prstGeom>
          <a:solidFill>
            <a:srgbClr val="0B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05256" y="2459736"/>
            <a:ext cx="658368" cy="658368"/>
          </a:xfrm>
          <a:prstGeom prst="ellipse">
            <a:avLst/>
          </a:prstGeom>
          <a:solidFill>
            <a:srgbClr val="12304F"/>
          </a:solidFill>
          <a:ln w="19050">
            <a:solidFill>
              <a:srgbClr val="20D6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FaFingerprint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2624328"/>
            <a:ext cx="329184" cy="32918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737360" y="2542032"/>
            <a:ext cx="356616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900" b="1" i="0">
                <a:solidFill>
                  <a:srgbClr val="20D6E7"/>
                </a:solidFill>
                <a:latin typeface="Aptos"/>
              </a:rPr>
              <a:t>Nada repetido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3154680"/>
            <a:ext cx="4434840" cy="7315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400" b="0" i="0">
                <a:solidFill>
                  <a:srgbClr val="F5FAFF"/>
                </a:solidFill>
                <a:latin typeface="Aptos"/>
              </a:rPr>
              <a:t>Cada persona, cuenta y celular aparece una sola vez.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114800"/>
            <a:ext cx="4846320" cy="1691640"/>
          </a:xfrm>
          <a:prstGeom prst="roundRect">
            <a:avLst>
              <a:gd name="adj" fmla="val 12000"/>
            </a:avLst>
          </a:prstGeom>
          <a:solidFill>
            <a:srgbClr val="0B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05256" y="4334255"/>
            <a:ext cx="658368" cy="658368"/>
          </a:xfrm>
          <a:prstGeom prst="ellipse">
            <a:avLst/>
          </a:prstGeom>
          <a:solidFill>
            <a:srgbClr val="12304F"/>
          </a:solidFill>
          <a:ln w="19050">
            <a:solidFill>
              <a:srgbClr val="F26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FaBellSlash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4498848"/>
            <a:ext cx="329184" cy="32918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737360" y="4416552"/>
            <a:ext cx="356616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900" b="1" i="0">
                <a:solidFill>
                  <a:srgbClr val="F263A5"/>
                </a:solidFill>
                <a:latin typeface="Aptos"/>
              </a:rPr>
              <a:t>No grita por todo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029200"/>
            <a:ext cx="4434840" cy="7315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400" b="0" i="0">
                <a:solidFill>
                  <a:srgbClr val="F5FAFF"/>
                </a:solidFill>
                <a:latin typeface="Aptos"/>
              </a:rPr>
              <a:t>Solo avisa cuando la plata se mueve como el lavado: en orden y perdiendo un poquito en cada paso.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60720" y="2240280"/>
            <a:ext cx="5760720" cy="3611880"/>
          </a:xfrm>
          <a:prstGeom prst="roundRect">
            <a:avLst>
              <a:gd name="adj" fmla="val 12000"/>
            </a:avLst>
          </a:prstGeom>
          <a:solidFill>
            <a:srgbClr val="0B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035040" y="2395728"/>
            <a:ext cx="530352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AFC3D6"/>
                </a:solidFill>
                <a:latin typeface="Aptos"/>
              </a:rPr>
              <a:t>CÓMO SUMA PUNTOS UNA CUENTA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2880360"/>
            <a:ext cx="2377440" cy="45720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400" b="0" i="0">
                <a:solidFill>
                  <a:srgbClr val="F5FAFF"/>
                </a:solidFill>
                <a:latin typeface="Aptos"/>
              </a:rPr>
              <a:t>La plata le da vueltas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58200" y="2953512"/>
            <a:ext cx="2377440" cy="329184"/>
          </a:xfrm>
          <a:prstGeom prst="roundRect">
            <a:avLst/>
          </a:prstGeom>
          <a:solidFill>
            <a:srgbClr val="20D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881360" y="2880360"/>
            <a:ext cx="731520" cy="45720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500" b="1" i="0">
                <a:solidFill>
                  <a:srgbClr val="20D6E7"/>
                </a:solidFill>
                <a:latin typeface="Aptos"/>
              </a:rPr>
              <a:t>40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3538728"/>
            <a:ext cx="2377440" cy="45720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400" b="0" i="0">
                <a:solidFill>
                  <a:srgbClr val="F5FAFF"/>
                </a:solidFill>
                <a:latin typeface="Aptos"/>
              </a:rPr>
              <a:t>Comparte celular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58200" y="3611880"/>
            <a:ext cx="1485900" cy="329184"/>
          </a:xfrm>
          <a:prstGeom prst="roundRect">
            <a:avLst/>
          </a:prstGeom>
          <a:solidFill>
            <a:srgbClr val="F26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989820" y="3538728"/>
            <a:ext cx="731520" cy="45720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500" b="1" i="0">
                <a:solidFill>
                  <a:srgbClr val="F263A5"/>
                </a:solidFill>
                <a:latin typeface="Aptos"/>
              </a:rPr>
              <a:t>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4197096"/>
            <a:ext cx="2377440" cy="45720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400" b="0" i="0">
                <a:solidFill>
                  <a:srgbClr val="F5FAFF"/>
                </a:solidFill>
                <a:latin typeface="Aptos"/>
              </a:rPr>
              <a:t>Montos grandes de golpe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458200" y="4270248"/>
            <a:ext cx="1188720" cy="329184"/>
          </a:xfrm>
          <a:prstGeom prst="roundRect">
            <a:avLst/>
          </a:prstGeom>
          <a:solidFill>
            <a:srgbClr val="FFB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92640" y="4197096"/>
            <a:ext cx="731520" cy="45720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500" b="1" i="0">
                <a:solidFill>
                  <a:srgbClr val="FFBF66"/>
                </a:solidFill>
                <a:latin typeface="Aptos"/>
              </a:rPr>
              <a:t>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4855464"/>
            <a:ext cx="2377440" cy="45720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400" b="0" i="0">
                <a:solidFill>
                  <a:srgbClr val="F5FAFF"/>
                </a:solidFill>
                <a:latin typeface="Aptos"/>
              </a:rPr>
              <a:t>Comparte internet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58200" y="4928616"/>
            <a:ext cx="891540" cy="329184"/>
          </a:xfrm>
          <a:prstGeom prst="roundRect">
            <a:avLst/>
          </a:prstGeom>
          <a:solidFill>
            <a:srgbClr val="F5F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395460" y="4855464"/>
            <a:ext cx="731520" cy="45720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500" b="1" i="0">
                <a:solidFill>
                  <a:srgbClr val="F5FAFF"/>
                </a:solidFill>
                <a:latin typeface="Aptos"/>
              </a:rPr>
              <a:t>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5486400"/>
            <a:ext cx="5303520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500" b="1" i="0">
                <a:solidFill>
                  <a:srgbClr val="FFBF66"/>
                </a:solidFill>
                <a:latin typeface="Aptos"/>
              </a:rPr>
              <a:t>60 puntos o más</a:t>
            </a:r>
            <a:r>
              <a:rPr sz="1500" b="0" i="0">
                <a:solidFill>
                  <a:srgbClr val="F5FAFF"/>
                </a:solidFill>
                <a:latin typeface="Aptos"/>
              </a:rPr>
              <a:t> = revisar ya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5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4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750"/>
                            </p:stCondLst>
                            <p:childTnLst>
                              <p:par>
                                <p:cTn id="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10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450"/>
                            </p:stCondLst>
                            <p:childTnLst>
                              <p:par>
                                <p:cTn id="8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texture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t>FRAUDELINK  /  DEMOSTRACIÓN EN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10 / 17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49808"/>
            <a:ext cx="10972800" cy="9326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t>Ahora, véanlo funcionando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508761"/>
            <a:ext cx="10881360" cy="246221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AFC3D6"/>
                </a:solidFill>
                <a:latin typeface="Aptos"/>
              </a:defRPr>
            </a:pPr>
            <a:r>
              <a:rPr lang="en-US" sz="1600" dirty="0" err="1">
                <a:solidFill>
                  <a:srgbClr val="AFC3D6"/>
                </a:solidFill>
                <a:latin typeface="Aptos"/>
              </a:rPr>
              <a:t>Cinco preguntas que su equipo podría hacerse mañana mismo.</a:t>
            </a:r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1508760" y="3136392"/>
            <a:ext cx="9144000" cy="45720"/>
          </a:xfrm>
          <a:prstGeom prst="rect">
            <a:avLst/>
          </a:prstGeom>
          <a:solidFill>
            <a:srgbClr val="31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51560" y="2697480"/>
            <a:ext cx="914400" cy="914400"/>
          </a:xfrm>
          <a:prstGeom prst="ellipse">
            <a:avLst/>
          </a:prstGeom>
          <a:solidFill>
            <a:srgbClr val="12304F"/>
          </a:solidFill>
          <a:ln w="19050">
            <a:solidFill>
              <a:srgbClr val="20D6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FaCircleNodes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2926080"/>
            <a:ext cx="457200" cy="457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88719" y="2240280"/>
            <a:ext cx="6400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400" b="1" i="0">
                <a:solidFill>
                  <a:srgbClr val="20D6E7"/>
                </a:solidFill>
                <a:latin typeface="Aptos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3840480"/>
            <a:ext cx="2194560" cy="6858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600" b="1" i="0">
                <a:solidFill>
                  <a:srgbClr val="F5FAFF"/>
                </a:solidFill>
                <a:latin typeface="Aptos"/>
              </a:rPr>
              <a:t>Todo en un mapa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4526280"/>
            <a:ext cx="2194560" cy="6400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300" b="0" i="0">
                <a:solidFill>
                  <a:srgbClr val="AFC3D6"/>
                </a:solidFill>
                <a:latin typeface="Aptos"/>
              </a:rPr>
              <a:t>Su negocio en una sola imagen</a:t>
            </a:r>
          </a:p>
        </p:txBody>
      </p:sp>
      <p:sp>
        <p:nvSpPr>
          <p:cNvPr id="25" name="Oval 24"/>
          <p:cNvSpPr/>
          <p:nvPr/>
        </p:nvSpPr>
        <p:spPr>
          <a:xfrm>
            <a:off x="3337560" y="2697480"/>
            <a:ext cx="914400" cy="914400"/>
          </a:xfrm>
          <a:prstGeom prst="ellipse">
            <a:avLst/>
          </a:prstGeom>
          <a:solidFill>
            <a:srgbClr val="12304F"/>
          </a:solidFill>
          <a:ln w="19050">
            <a:solidFill>
              <a:srgbClr val="F26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FaMobileScreen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2926080"/>
            <a:ext cx="457200" cy="457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474720" y="2240280"/>
            <a:ext cx="6400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400" b="1" i="0">
                <a:solidFill>
                  <a:srgbClr val="F263A5"/>
                </a:solidFill>
                <a:latin typeface="Aptos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840480"/>
            <a:ext cx="2194560" cy="6858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600" b="1" i="0">
                <a:solidFill>
                  <a:srgbClr val="F5FAFF"/>
                </a:solidFill>
                <a:latin typeface="Aptos"/>
              </a:rPr>
              <a:t>Un celular, 14 dueños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4526280"/>
            <a:ext cx="2194560" cy="6400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300" b="0" i="0">
                <a:solidFill>
                  <a:srgbClr val="AFC3D6"/>
                </a:solidFill>
                <a:latin typeface="Aptos"/>
              </a:rPr>
              <a:t>Lo normal son unas 4 personas</a:t>
            </a:r>
          </a:p>
        </p:txBody>
      </p:sp>
      <p:sp>
        <p:nvSpPr>
          <p:cNvPr id="30" name="Oval 29"/>
          <p:cNvSpPr/>
          <p:nvPr/>
        </p:nvSpPr>
        <p:spPr>
          <a:xfrm>
            <a:off x="5623560" y="2697480"/>
            <a:ext cx="914400" cy="914400"/>
          </a:xfrm>
          <a:prstGeom prst="ellipse">
            <a:avLst/>
          </a:prstGeom>
          <a:solidFill>
            <a:srgbClr val="12304F"/>
          </a:solidFill>
          <a:ln w="19050">
            <a:solidFill>
              <a:srgbClr val="FFB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FaArrowsRotate_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2926080"/>
            <a:ext cx="457200" cy="4572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760720" y="2240280"/>
            <a:ext cx="6400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400" b="1" i="0">
                <a:solidFill>
                  <a:srgbClr val="FFBF66"/>
                </a:solidFill>
                <a:latin typeface="Aptos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3480" y="3840480"/>
            <a:ext cx="2194560" cy="6858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600" b="1" i="0">
                <a:solidFill>
                  <a:srgbClr val="F5FAFF"/>
                </a:solidFill>
                <a:latin typeface="Aptos"/>
              </a:rPr>
              <a:t>La plata que da la vuelta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3480" y="4526280"/>
            <a:ext cx="2194560" cy="6400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300" b="0" i="0">
                <a:solidFill>
                  <a:srgbClr val="AFC3D6"/>
                </a:solidFill>
                <a:latin typeface="Aptos"/>
              </a:rPr>
              <a:t>Sale, pasa por otras y vuelve</a:t>
            </a:r>
          </a:p>
        </p:txBody>
      </p:sp>
      <p:sp>
        <p:nvSpPr>
          <p:cNvPr id="35" name="Oval 34"/>
          <p:cNvSpPr/>
          <p:nvPr/>
        </p:nvSpPr>
        <p:spPr>
          <a:xfrm>
            <a:off x="7909560" y="2697480"/>
            <a:ext cx="914400" cy="914400"/>
          </a:xfrm>
          <a:prstGeom prst="ellipse">
            <a:avLst/>
          </a:prstGeom>
          <a:solidFill>
            <a:srgbClr val="12304F"/>
          </a:solidFill>
          <a:ln w="19050">
            <a:solidFill>
              <a:srgbClr val="20D6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FaRoute_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2926080"/>
            <a:ext cx="457200" cy="4572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046720" y="2240280"/>
            <a:ext cx="6400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400" b="1" i="0">
                <a:solidFill>
                  <a:srgbClr val="20D6E7"/>
                </a:solidFill>
                <a:latin typeface="Aptos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3840480"/>
            <a:ext cx="2194560" cy="6858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600" b="1" i="0">
                <a:solidFill>
                  <a:srgbClr val="F5FAFF"/>
                </a:solidFill>
                <a:latin typeface="Aptos"/>
              </a:rPr>
              <a:t>Los que hacen de puente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4526280"/>
            <a:ext cx="2194560" cy="6400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300" b="0" i="0">
                <a:solidFill>
                  <a:srgbClr val="AFC3D6"/>
                </a:solidFill>
                <a:latin typeface="Aptos"/>
              </a:rPr>
              <a:t>Las cuentas de en medio</a:t>
            </a:r>
          </a:p>
        </p:txBody>
      </p:sp>
      <p:sp>
        <p:nvSpPr>
          <p:cNvPr id="40" name="Oval 39"/>
          <p:cNvSpPr/>
          <p:nvPr/>
        </p:nvSpPr>
        <p:spPr>
          <a:xfrm>
            <a:off x="10195560" y="2697480"/>
            <a:ext cx="914400" cy="914400"/>
          </a:xfrm>
          <a:prstGeom prst="ellipse">
            <a:avLst/>
          </a:prstGeom>
          <a:solidFill>
            <a:srgbClr val="12304F"/>
          </a:solidFill>
          <a:ln w="19050">
            <a:solidFill>
              <a:srgbClr val="F26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FaListOl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2926080"/>
            <a:ext cx="457200" cy="4572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332720" y="2240280"/>
            <a:ext cx="6400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400" b="1" i="0">
                <a:solidFill>
                  <a:srgbClr val="F263A5"/>
                </a:solidFill>
                <a:latin typeface="Aptos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55480" y="3840480"/>
            <a:ext cx="2194560" cy="6858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600" b="1" i="0">
                <a:solidFill>
                  <a:srgbClr val="F5FAFF"/>
                </a:solidFill>
                <a:latin typeface="Aptos"/>
              </a:rPr>
              <a:t>La lista del lunes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55480" y="4526280"/>
            <a:ext cx="2194560" cy="6400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300" b="0" i="0">
                <a:solidFill>
                  <a:srgbClr val="AFC3D6"/>
                </a:solidFill>
                <a:latin typeface="Aptos"/>
              </a:rPr>
              <a:t>5 de 5 000 cuentas, ya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023360" y="5394960"/>
            <a:ext cx="4114800" cy="548640"/>
          </a:xfrm>
          <a:prstGeom prst="roundRect">
            <a:avLst>
              <a:gd name="adj" fmla="val 50000"/>
            </a:avLst>
          </a:prstGeom>
          <a:solidFill>
            <a:srgbClr val="12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FaPlay_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1959" y="5532120"/>
            <a:ext cx="274320" cy="27432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663440" y="5440680"/>
            <a:ext cx="3383280" cy="45720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500" b="1" i="0">
                <a:solidFill>
                  <a:srgbClr val="20D6E7"/>
                </a:solidFill>
                <a:latin typeface="Aptos"/>
              </a:rPr>
              <a:t>Neo4j en vivo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5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4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75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10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texture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t>FRAUDELINK  / 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11 / 17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49808"/>
            <a:ext cx="10972800" cy="9326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t>No se le escapó ninguna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508761"/>
            <a:ext cx="10881360" cy="246221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AFC3D6"/>
                </a:solidFill>
                <a:latin typeface="Aptos"/>
              </a:defRPr>
            </a:pPr>
            <a:r>
              <a:rPr lang="en-US" sz="1600" dirty="0" err="1">
                <a:solidFill>
                  <a:srgbClr val="AFC3D6"/>
                </a:solidFill>
                <a:latin typeface="Aptos"/>
              </a:rPr>
              <a:t>Lo que acaban de ver no es un truco de presentación.</a:t>
            </a:r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640080" y="2286000"/>
            <a:ext cx="3429000" cy="2743200"/>
          </a:xfrm>
          <a:prstGeom prst="roundRect">
            <a:avLst>
              <a:gd name="adj" fmla="val 12000"/>
            </a:avLst>
          </a:prstGeom>
          <a:solidFill>
            <a:srgbClr val="0B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19" y="2514600"/>
            <a:ext cx="2834640" cy="10972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6000" b="1" i="0">
                <a:solidFill>
                  <a:srgbClr val="20D6E7"/>
                </a:solidFill>
                <a:latin typeface="Aptos"/>
              </a:rPr>
              <a:t>2/2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19" y="3703320"/>
            <a:ext cx="2834640" cy="10972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F5FAFF"/>
                </a:solidFill>
                <a:latin typeface="Aptos"/>
              </a:rPr>
              <a:t>círculos escondidos</a:t>
            </a:r>
          </a:p>
          <a:p>
            <a:pPr algn="l"/>
            <a:r>
              <a:rPr sz="1700" b="0" i="0">
                <a:solidFill>
                  <a:srgbClr val="AFC3D6"/>
                </a:solidFill>
                <a:latin typeface="Aptos"/>
              </a:rPr>
              <a:t>encontrados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2286000"/>
            <a:ext cx="3429000" cy="2743200"/>
          </a:xfrm>
          <a:prstGeom prst="roundRect">
            <a:avLst>
              <a:gd name="adj" fmla="val 12000"/>
            </a:avLst>
          </a:prstGeom>
          <a:solidFill>
            <a:srgbClr val="0B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63440" y="2514600"/>
            <a:ext cx="2834640" cy="10972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6000" b="1" i="0">
                <a:solidFill>
                  <a:srgbClr val="F263A5"/>
                </a:solidFill>
                <a:latin typeface="Aptos"/>
              </a:rPr>
              <a:t>7/7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703320"/>
            <a:ext cx="2834640" cy="10972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F5FAFF"/>
                </a:solidFill>
                <a:latin typeface="Aptos"/>
              </a:rPr>
              <a:t>cuentas de esos círculos</a:t>
            </a:r>
          </a:p>
          <a:p>
            <a:pPr algn="l"/>
            <a:r>
              <a:rPr sz="1700" b="0" i="0">
                <a:solidFill>
                  <a:srgbClr val="AFC3D6"/>
                </a:solidFill>
                <a:latin typeface="Aptos"/>
              </a:rPr>
              <a:t>en el top 20 de riesgo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9" y="2286000"/>
            <a:ext cx="3429000" cy="2743200"/>
          </a:xfrm>
          <a:prstGeom prst="roundRect">
            <a:avLst>
              <a:gd name="adj" fmla="val 12000"/>
            </a:avLst>
          </a:prstGeom>
          <a:solidFill>
            <a:srgbClr val="0B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66759" y="2514600"/>
            <a:ext cx="2834640" cy="10972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6000" b="1" i="0">
                <a:solidFill>
                  <a:srgbClr val="FFBF66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59" y="3703320"/>
            <a:ext cx="2834640" cy="10972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F5FAFF"/>
                </a:solidFill>
                <a:latin typeface="Aptos"/>
              </a:rPr>
              <a:t>cuentas en riesgo alto</a:t>
            </a:r>
          </a:p>
          <a:p>
            <a:pPr algn="l"/>
            <a:r>
              <a:rPr sz="1700" b="0" i="0">
                <a:solidFill>
                  <a:srgbClr val="AFC3D6"/>
                </a:solidFill>
                <a:latin typeface="Aptos"/>
              </a:rPr>
              <a:t>de 5 000 revisadas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600" b="0" i="0">
                <a:solidFill>
                  <a:srgbClr val="AFC3D6"/>
                </a:solidFill>
                <a:latin typeface="Aptos"/>
              </a:rPr>
              <a:t>La cuenta más riesgosa: </a:t>
            </a:r>
            <a:r>
              <a:rPr sz="1600" b="1" i="0">
                <a:solidFill>
                  <a:srgbClr val="F5FAFF"/>
                </a:solidFill>
                <a:latin typeface="Aptos"/>
              </a:rPr>
              <a:t>CTA00013, con 65 puntos</a:t>
            </a:r>
            <a:r>
              <a:rPr sz="1600" b="0" i="0">
                <a:solidFill>
                  <a:srgbClr val="AFC3D6"/>
                </a:solidFill>
                <a:latin typeface="Aptos"/>
              </a:rPr>
              <a:t> — la plata le da vueltas, comparte celular y recibió montos grandes.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5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texture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t>FRAUDELINK  /  RAPIDEZ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12 / 17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49808"/>
            <a:ext cx="10972800" cy="9326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t>Rápido justo donde importa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10881360" cy="5760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AFC3D6"/>
                </a:solidFill>
                <a:latin typeface="Aptos"/>
              </a:defRPr>
            </a:pPr>
            <a:r>
              <a:t>En este negocio, cada hora que se gana es plata que no se va.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240280"/>
            <a:ext cx="4206240" cy="3611880"/>
          </a:xfrm>
          <a:prstGeom prst="roundRect">
            <a:avLst>
              <a:gd name="adj" fmla="val 12000"/>
            </a:avLst>
          </a:prstGeom>
          <a:solidFill>
            <a:srgbClr val="0B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77824" y="2478024"/>
            <a:ext cx="713232" cy="713232"/>
          </a:xfrm>
          <a:prstGeom prst="ellipse">
            <a:avLst/>
          </a:prstGeom>
          <a:solidFill>
            <a:srgbClr val="12304F"/>
          </a:solidFill>
          <a:ln w="19050">
            <a:solidFill>
              <a:srgbClr val="20D6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FaClock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" y="2656332"/>
            <a:ext cx="356616" cy="35661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14400" y="3337560"/>
            <a:ext cx="3657600" cy="10058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6000" b="1" i="0">
                <a:solidFill>
                  <a:srgbClr val="20D6E7"/>
                </a:solidFill>
                <a:latin typeface="Aptos"/>
              </a:rPr>
              <a:t>≈ 5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343400"/>
            <a:ext cx="3657600" cy="8229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600" b="0" i="0">
                <a:solidFill>
                  <a:srgbClr val="F5FAFF"/>
                </a:solidFill>
                <a:latin typeface="Aptos"/>
              </a:rPr>
              <a:t>para revisar el mapa completo y armar los grupos de cuentas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257800"/>
            <a:ext cx="365760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300" b="0" i="1">
                <a:solidFill>
                  <a:srgbClr val="AFC3D6"/>
                </a:solidFill>
                <a:latin typeface="Aptos"/>
              </a:rPr>
              <a:t>Medido 100 veces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0" y="2240280"/>
            <a:ext cx="6400800" cy="3611880"/>
          </a:xfrm>
          <a:prstGeom prst="roundRect">
            <a:avLst>
              <a:gd name="adj" fmla="val 12000"/>
            </a:avLst>
          </a:prstGeom>
          <a:solidFill>
            <a:srgbClr val="0B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40680" y="2423160"/>
            <a:ext cx="5852160" cy="7772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F5FAFF"/>
                </a:solidFill>
                <a:latin typeface="Aptos"/>
              </a:rPr>
              <a:t>¿Por dónde pasó la plata para llegar de esta cuenta a aquella?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3383280"/>
            <a:ext cx="1828800" cy="41148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500" b="1" i="0">
                <a:solidFill>
                  <a:srgbClr val="20D6E7"/>
                </a:solidFill>
                <a:latin typeface="Aptos"/>
              </a:rPr>
              <a:t>FraudeLink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3429000"/>
            <a:ext cx="1669632" cy="347472"/>
          </a:xfrm>
          <a:prstGeom prst="roundRect">
            <a:avLst/>
          </a:prstGeom>
          <a:solidFill>
            <a:srgbClr val="20D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30552" y="3383280"/>
            <a:ext cx="1097280" cy="41148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500" b="1" i="0">
                <a:solidFill>
                  <a:srgbClr val="20D6E7"/>
                </a:solidFill>
                <a:latin typeface="Aptos"/>
              </a:rPr>
              <a:t>0,5 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3977639"/>
            <a:ext cx="1828800" cy="41148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500" b="0" i="0">
                <a:solidFill>
                  <a:srgbClr val="AFC3D6"/>
                </a:solidFill>
                <a:latin typeface="Aptos"/>
              </a:rPr>
              <a:t>Sistema de siempre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4023360"/>
            <a:ext cx="3533241" cy="347472"/>
          </a:xfrm>
          <a:prstGeom prst="roundRect">
            <a:avLst/>
          </a:prstGeom>
          <a:solidFill>
            <a:srgbClr val="31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200" y="4462272"/>
            <a:ext cx="35661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/>
            <a:r>
              <a:rPr sz="1500" b="1" i="0">
                <a:solidFill>
                  <a:srgbClr val="AFC3D6"/>
                </a:solidFill>
                <a:latin typeface="Aptos"/>
              </a:rPr>
              <a:t>1,2 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80" y="4892040"/>
            <a:ext cx="5852160" cy="8229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500" b="1" i="0">
                <a:solidFill>
                  <a:srgbClr val="FFBF66"/>
                </a:solidFill>
                <a:latin typeface="Aptos"/>
              </a:rPr>
              <a:t>Más del doble de rápido</a:t>
            </a:r>
            <a:r>
              <a:rPr sz="1500" b="0" i="0">
                <a:solidFill>
                  <a:srgbClr val="F5FAFF"/>
                </a:solidFill>
                <a:latin typeface="Aptos"/>
              </a:rPr>
              <a:t> en la pregunta que más pesa conforme la empresa crece.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5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5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4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texture_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t>FRAUDELINK  /  LO QUE FALTA 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13 / 17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49808"/>
            <a:ext cx="10972800" cy="9326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t>No les vamos a vender humo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10881360" cy="5760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AFC3D6"/>
                </a:solidFill>
                <a:latin typeface="Aptos"/>
              </a:defRPr>
            </a:pPr>
            <a:r>
              <a:t>Esto es lo que todavía hay que comprobar con sus propios datos.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2286000"/>
            <a:ext cx="3429000" cy="3291840"/>
          </a:xfrm>
          <a:prstGeom prst="roundRect">
            <a:avLst>
              <a:gd name="adj" fmla="val 12000"/>
            </a:avLst>
          </a:prstGeom>
          <a:solidFill>
            <a:srgbClr val="0B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37259" y="2583180"/>
            <a:ext cx="777240" cy="777240"/>
          </a:xfrm>
          <a:prstGeom prst="ellipse">
            <a:avLst/>
          </a:prstGeom>
          <a:solidFill>
            <a:srgbClr val="12304F"/>
          </a:solidFill>
          <a:ln w="19050">
            <a:solidFill>
              <a:srgbClr val="20D6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FaFlask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570" y="2777490"/>
            <a:ext cx="388620" cy="3886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60119" y="3657600"/>
            <a:ext cx="2834640" cy="8229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900" b="1" i="0">
                <a:solidFill>
                  <a:srgbClr val="20D6E7"/>
                </a:solidFill>
                <a:latin typeface="Aptos"/>
              </a:rPr>
              <a:t>Datos de prueba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19" y="4434840"/>
            <a:ext cx="2834640" cy="10515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500" b="0" i="0">
                <a:solidFill>
                  <a:srgbClr val="F5FAFF"/>
                </a:solidFill>
                <a:latin typeface="Aptos"/>
              </a:rPr>
              <a:t>Todavía no sabemos cuánta plata exacta les ayudaría a salvar.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2286000"/>
            <a:ext cx="3429000" cy="3291840"/>
          </a:xfrm>
          <a:prstGeom prst="roundRect">
            <a:avLst>
              <a:gd name="adj" fmla="val 12000"/>
            </a:avLst>
          </a:prstGeom>
          <a:solidFill>
            <a:srgbClr val="0B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640580" y="2583180"/>
            <a:ext cx="777240" cy="777240"/>
          </a:xfrm>
          <a:prstGeom prst="ellipse">
            <a:avLst/>
          </a:prstGeom>
          <a:solidFill>
            <a:srgbClr val="12304F"/>
          </a:solidFill>
          <a:ln w="19050">
            <a:solidFill>
              <a:srgbClr val="F26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aScaleBalanced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4890" y="2777490"/>
            <a:ext cx="388620" cy="3886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663440" y="3657600"/>
            <a:ext cx="2834640" cy="8229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900" b="1" i="0">
                <a:solidFill>
                  <a:srgbClr val="F263A5"/>
                </a:solidFill>
                <a:latin typeface="Aptos"/>
              </a:rPr>
              <a:t>Una señal no es una acusación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434840"/>
            <a:ext cx="2834640" cy="10515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500" b="0" i="0">
                <a:solidFill>
                  <a:srgbClr val="F5FAFF"/>
                </a:solidFill>
                <a:latin typeface="Aptos"/>
              </a:rPr>
              <a:t>Un celular compartido puede ser una familia.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19" y="2286000"/>
            <a:ext cx="3429000" cy="3291840"/>
          </a:xfrm>
          <a:prstGeom prst="roundRect">
            <a:avLst>
              <a:gd name="adj" fmla="val 12000"/>
            </a:avLst>
          </a:prstGeom>
          <a:solidFill>
            <a:srgbClr val="0B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343899" y="2583180"/>
            <a:ext cx="777240" cy="777240"/>
          </a:xfrm>
          <a:prstGeom prst="ellipse">
            <a:avLst/>
          </a:prstGeom>
          <a:solidFill>
            <a:srgbClr val="12304F"/>
          </a:solidFill>
          <a:ln w="19050">
            <a:solidFill>
              <a:srgbClr val="FFB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FaPeopleGroup_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8209" y="2777490"/>
            <a:ext cx="388620" cy="3886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366759" y="3657600"/>
            <a:ext cx="2834640" cy="8229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900" b="1" i="0">
                <a:solidFill>
                  <a:srgbClr val="FFBF66"/>
                </a:solidFill>
                <a:latin typeface="Aptos"/>
              </a:rPr>
              <a:t>La última palabra es de una persona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59" y="4434840"/>
            <a:ext cx="2834640" cy="10515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500" b="0" i="0">
                <a:solidFill>
                  <a:srgbClr val="F5FAFF"/>
                </a:solidFill>
                <a:latin typeface="Aptos"/>
              </a:rPr>
              <a:t>FraudeLink no acusa a nadie: le dice a su equipo dónde mirar primero.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xture_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t>FRAUDELINK  /  LO QUE CUESTA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14 / 17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49808"/>
            <a:ext cx="10972800" cy="9326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t>Aquí viene lo bueno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10881360" cy="5760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AFC3D6"/>
                </a:solidFill>
                <a:latin typeface="Aptos"/>
              </a:defRPr>
            </a:pPr>
            <a:r>
              <a:t>Empezar con FraudeLink no requiere comprar licencias.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240280"/>
            <a:ext cx="4206240" cy="3611880"/>
          </a:xfrm>
          <a:prstGeom prst="roundRect">
            <a:avLst>
              <a:gd name="adj" fmla="val 12000"/>
            </a:avLst>
          </a:prstGeom>
          <a:solidFill>
            <a:srgbClr val="0B203B"/>
          </a:solidFill>
          <a:ln w="15875">
            <a:solidFill>
              <a:srgbClr val="FFB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514600"/>
            <a:ext cx="3657600" cy="1463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9600" b="1" i="0">
                <a:solidFill>
                  <a:srgbClr val="FFBF66"/>
                </a:solidFill>
                <a:latin typeface="Aptos"/>
              </a:rPr>
              <a:t>₡0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3657600" cy="8229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2000" b="1" i="0">
                <a:solidFill>
                  <a:srgbClr val="F5FAFF"/>
                </a:solidFill>
                <a:latin typeface="Aptos"/>
              </a:rPr>
              <a:t>en licencias para empezar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46320"/>
            <a:ext cx="3657600" cy="7315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500" b="0" i="0">
                <a:solidFill>
                  <a:srgbClr val="AFC3D6"/>
                </a:solidFill>
                <a:latin typeface="Aptos"/>
              </a:rPr>
              <a:t>La herramienta es gratuita.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2240280"/>
            <a:ext cx="6400800" cy="1097280"/>
          </a:xfrm>
          <a:prstGeom prst="roundRect">
            <a:avLst>
              <a:gd name="adj" fmla="val 20000"/>
            </a:avLst>
          </a:prstGeom>
          <a:solidFill>
            <a:srgbClr val="0B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358383" y="2459736"/>
            <a:ext cx="658368" cy="658368"/>
          </a:xfrm>
          <a:prstGeom prst="ellipse">
            <a:avLst/>
          </a:prstGeom>
          <a:solidFill>
            <a:srgbClr val="12304F"/>
          </a:solidFill>
          <a:ln w="19050">
            <a:solidFill>
              <a:srgbClr val="20D6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FaTerminal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2976" y="2624328"/>
            <a:ext cx="329184" cy="3291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217920" y="2377440"/>
            <a:ext cx="512064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20D6E7"/>
                </a:solidFill>
                <a:latin typeface="Aptos"/>
              </a:rPr>
              <a:t>Se instala en un rato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724912"/>
            <a:ext cx="5120640" cy="56692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AFC3D6"/>
                </a:solidFill>
                <a:latin typeface="Aptos"/>
              </a:rPr>
              <a:t>Un solo comando, en cualquier computadora.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3474720"/>
            <a:ext cx="6400800" cy="1097280"/>
          </a:xfrm>
          <a:prstGeom prst="roundRect">
            <a:avLst>
              <a:gd name="adj" fmla="val 20000"/>
            </a:avLst>
          </a:prstGeom>
          <a:solidFill>
            <a:srgbClr val="0B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358383" y="3694176"/>
            <a:ext cx="658368" cy="658368"/>
          </a:xfrm>
          <a:prstGeom prst="ellipse">
            <a:avLst/>
          </a:prstGeom>
          <a:solidFill>
            <a:srgbClr val="12304F"/>
          </a:solidFill>
          <a:ln w="19050">
            <a:solidFill>
              <a:srgbClr val="F26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FaLock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2976" y="3858768"/>
            <a:ext cx="329184" cy="32918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17920" y="3611880"/>
            <a:ext cx="512064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F263A5"/>
                </a:solidFill>
                <a:latin typeface="Aptos"/>
              </a:rPr>
              <a:t>Contraseñas protegidas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959352"/>
            <a:ext cx="5120640" cy="56692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AFC3D6"/>
                </a:solidFill>
                <a:latin typeface="Aptos"/>
              </a:rPr>
              <a:t>Guardadas aparte, fuera del sistema.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0" y="4709160"/>
            <a:ext cx="6400800" cy="1097280"/>
          </a:xfrm>
          <a:prstGeom prst="roundRect">
            <a:avLst>
              <a:gd name="adj" fmla="val 20000"/>
            </a:avLst>
          </a:prstGeom>
          <a:solidFill>
            <a:srgbClr val="0B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358383" y="4928616"/>
            <a:ext cx="658368" cy="658368"/>
          </a:xfrm>
          <a:prstGeom prst="ellipse">
            <a:avLst/>
          </a:prstGeom>
          <a:solidFill>
            <a:srgbClr val="12304F"/>
          </a:solidFill>
          <a:ln w="19050">
            <a:solidFill>
              <a:srgbClr val="F5F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FaServe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2976" y="5093208"/>
            <a:ext cx="329184" cy="32918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217920" y="4846320"/>
            <a:ext cx="512064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F5FAFF"/>
                </a:solidFill>
                <a:latin typeface="Aptos"/>
              </a:rPr>
              <a:t>Crece cuando ustedes decidan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193792"/>
            <a:ext cx="5120640" cy="56692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AFC3D6"/>
                </a:solidFill>
                <a:latin typeface="Aptos"/>
              </a:rPr>
              <a:t>Si el mapa llega a millones de cuentas, hay una versión pagada. Se invierte solo cuando ya se pagó sola.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7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5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texture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t>FRAUDELINK  /  EL SIGUIENTE PASO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15 / 17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777241"/>
            <a:ext cx="10972800" cy="9326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t>Una prueba con sus propios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10881360" cy="5760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AFC3D6"/>
                </a:solidFill>
                <a:latin typeface="Aptos"/>
              </a:defRPr>
            </a:pPr>
            <a:r>
              <a:t>Cuatro pasos para decidir con números en la mano, no con promesas.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2286000"/>
            <a:ext cx="2468880" cy="3017520"/>
          </a:xfrm>
          <a:prstGeom prst="roundRect">
            <a:avLst>
              <a:gd name="adj" fmla="val 12000"/>
            </a:avLst>
          </a:prstGeom>
          <a:solidFill>
            <a:srgbClr val="0B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2468880"/>
            <a:ext cx="91440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2200" b="1" i="0">
                <a:solidFill>
                  <a:srgbClr val="20D6E7"/>
                </a:solidFill>
                <a:latin typeface="Aptos"/>
              </a:rPr>
              <a:t>01</a:t>
            </a:r>
          </a:p>
        </p:txBody>
      </p:sp>
      <p:sp>
        <p:nvSpPr>
          <p:cNvPr id="29" name="Oval 28"/>
          <p:cNvSpPr/>
          <p:nvPr/>
        </p:nvSpPr>
        <p:spPr>
          <a:xfrm>
            <a:off x="2194560" y="2404872"/>
            <a:ext cx="640080" cy="640080"/>
          </a:xfrm>
          <a:prstGeom prst="ellipse">
            <a:avLst/>
          </a:prstGeom>
          <a:solidFill>
            <a:srgbClr val="12304F"/>
          </a:solidFill>
          <a:ln w="19050">
            <a:solidFill>
              <a:srgbClr val="20D6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aHandshak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580" y="2564892"/>
            <a:ext cx="320040" cy="3200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14400" y="3566160"/>
            <a:ext cx="2011680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800" b="1" i="0">
                <a:solidFill>
                  <a:srgbClr val="F5FAFF"/>
                </a:solidFill>
                <a:latin typeface="Aptos"/>
              </a:rPr>
              <a:t>SENTARNOS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069080"/>
            <a:ext cx="2011680" cy="10058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500" b="0" i="0">
                <a:solidFill>
                  <a:srgbClr val="AFC3D6"/>
                </a:solidFill>
                <a:latin typeface="Aptos"/>
              </a:rPr>
              <a:t>Ver qué fraudes les duelen más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3145536" y="3639312"/>
            <a:ext cx="256032" cy="256032"/>
          </a:xfrm>
          <a:prstGeom prst="rightArrow">
            <a:avLst/>
          </a:prstGeom>
          <a:solidFill>
            <a:srgbClr val="20D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447287" y="2286000"/>
            <a:ext cx="2468880" cy="3017520"/>
          </a:xfrm>
          <a:prstGeom prst="roundRect">
            <a:avLst>
              <a:gd name="adj" fmla="val 12000"/>
            </a:avLst>
          </a:prstGeom>
          <a:solidFill>
            <a:srgbClr val="0B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721607" y="2468880"/>
            <a:ext cx="91440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2200" b="1" i="0">
                <a:solidFill>
                  <a:srgbClr val="F263A5"/>
                </a:solidFill>
                <a:latin typeface="Aptos"/>
              </a:rPr>
              <a:t>02</a:t>
            </a:r>
          </a:p>
        </p:txBody>
      </p:sp>
      <p:sp>
        <p:nvSpPr>
          <p:cNvPr id="36" name="Oval 35"/>
          <p:cNvSpPr/>
          <p:nvPr/>
        </p:nvSpPr>
        <p:spPr>
          <a:xfrm>
            <a:off x="5001768" y="2404872"/>
            <a:ext cx="640080" cy="640080"/>
          </a:xfrm>
          <a:prstGeom prst="ellipse">
            <a:avLst/>
          </a:prstGeom>
          <a:solidFill>
            <a:srgbClr val="12304F"/>
          </a:solidFill>
          <a:ln w="19050">
            <a:solidFill>
              <a:srgbClr val="F26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FaFlask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1788" y="2564892"/>
            <a:ext cx="320040" cy="32004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721607" y="3566160"/>
            <a:ext cx="2011680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800" b="1" i="0">
                <a:solidFill>
                  <a:srgbClr val="F5FAFF"/>
                </a:solidFill>
                <a:latin typeface="Aptos"/>
              </a:rPr>
              <a:t>PROBAR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21607" y="4069080"/>
            <a:ext cx="2011680" cy="10058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500" b="0" i="0">
                <a:solidFill>
                  <a:srgbClr val="AFC3D6"/>
                </a:solidFill>
                <a:latin typeface="Aptos"/>
              </a:rPr>
              <a:t>Con casos que ustedes ya conocen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5952744" y="3639312"/>
            <a:ext cx="256032" cy="256032"/>
          </a:xfrm>
          <a:prstGeom prst="rightArrow">
            <a:avLst/>
          </a:prstGeom>
          <a:solidFill>
            <a:srgbClr val="20D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254496" y="2286000"/>
            <a:ext cx="2468880" cy="3017520"/>
          </a:xfrm>
          <a:prstGeom prst="roundRect">
            <a:avLst>
              <a:gd name="adj" fmla="val 12000"/>
            </a:avLst>
          </a:prstGeom>
          <a:solidFill>
            <a:srgbClr val="0B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28816" y="2468880"/>
            <a:ext cx="91440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2200" b="1" i="0">
                <a:solidFill>
                  <a:srgbClr val="FFBF66"/>
                </a:solidFill>
                <a:latin typeface="Aptos"/>
              </a:rPr>
              <a:t>03</a:t>
            </a:r>
          </a:p>
        </p:txBody>
      </p:sp>
      <p:sp>
        <p:nvSpPr>
          <p:cNvPr id="43" name="Oval 42"/>
          <p:cNvSpPr/>
          <p:nvPr/>
        </p:nvSpPr>
        <p:spPr>
          <a:xfrm>
            <a:off x="7808976" y="2404872"/>
            <a:ext cx="640080" cy="640080"/>
          </a:xfrm>
          <a:prstGeom prst="ellipse">
            <a:avLst/>
          </a:prstGeom>
          <a:solidFill>
            <a:srgbClr val="12304F"/>
          </a:solidFill>
          <a:ln w="19050">
            <a:solidFill>
              <a:srgbClr val="FFB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FaLock_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8996" y="2564892"/>
            <a:ext cx="320040" cy="32004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528816" y="3566160"/>
            <a:ext cx="2011680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800" b="1" i="0">
                <a:solidFill>
                  <a:srgbClr val="F5FAFF"/>
                </a:solidFill>
                <a:latin typeface="Aptos"/>
              </a:rPr>
              <a:t>CONECTAR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8816" y="4069080"/>
            <a:ext cx="2011680" cy="10058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500" b="0" i="0">
                <a:solidFill>
                  <a:srgbClr val="AFC3D6"/>
                </a:solidFill>
                <a:latin typeface="Aptos"/>
              </a:rPr>
              <a:t>Con sus controles de seguridad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8759952" y="3639312"/>
            <a:ext cx="256032" cy="256032"/>
          </a:xfrm>
          <a:prstGeom prst="rightArrow">
            <a:avLst/>
          </a:prstGeom>
          <a:solidFill>
            <a:srgbClr val="20D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9061703" y="2286000"/>
            <a:ext cx="2468880" cy="3017520"/>
          </a:xfrm>
          <a:prstGeom prst="roundRect">
            <a:avLst>
              <a:gd name="adj" fmla="val 12000"/>
            </a:avLst>
          </a:prstGeom>
          <a:solidFill>
            <a:srgbClr val="0B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336024" y="2468880"/>
            <a:ext cx="91440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2200" b="1" i="0">
                <a:solidFill>
                  <a:srgbClr val="20D6E7"/>
                </a:solidFill>
                <a:latin typeface="Aptos"/>
              </a:rPr>
              <a:t>04</a:t>
            </a:r>
          </a:p>
        </p:txBody>
      </p:sp>
      <p:sp>
        <p:nvSpPr>
          <p:cNvPr id="50" name="Oval 49"/>
          <p:cNvSpPr/>
          <p:nvPr/>
        </p:nvSpPr>
        <p:spPr>
          <a:xfrm>
            <a:off x="10616183" y="2404872"/>
            <a:ext cx="640080" cy="640080"/>
          </a:xfrm>
          <a:prstGeom prst="ellipse">
            <a:avLst/>
          </a:prstGeom>
          <a:solidFill>
            <a:srgbClr val="12304F"/>
          </a:solidFill>
          <a:ln w="19050">
            <a:solidFill>
              <a:srgbClr val="20D6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Picture 50" descr="FaChartLine_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76203" y="2564892"/>
            <a:ext cx="320040" cy="32004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336024" y="3566160"/>
            <a:ext cx="2011680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800" b="1" i="0">
                <a:solidFill>
                  <a:srgbClr val="F5FAFF"/>
                </a:solidFill>
                <a:latin typeface="Aptos"/>
              </a:rPr>
              <a:t>CONTAR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36024" y="4069080"/>
            <a:ext cx="2011680" cy="10058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500" b="0" i="0">
                <a:solidFill>
                  <a:srgbClr val="AFC3D6"/>
                </a:solidFill>
                <a:latin typeface="Aptos"/>
              </a:rPr>
              <a:t>Fraudes encontrados y falsas alarmas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800" b="0" i="0">
                <a:solidFill>
                  <a:srgbClr val="AFC3D6"/>
                </a:solidFill>
                <a:latin typeface="Aptos"/>
              </a:rPr>
              <a:t>Al final, </a:t>
            </a:r>
            <a:r>
              <a:rPr sz="1800" b="1" i="0">
                <a:solidFill>
                  <a:srgbClr val="FFBF66"/>
                </a:solidFill>
                <a:latin typeface="Aptos"/>
              </a:rPr>
              <a:t>ustedes deciden con números en la mano.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5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400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83F415-FF69-1035-4DFB-FEA903387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texture_12.png">
            <a:extLst>
              <a:ext uri="{FF2B5EF4-FFF2-40B4-BE49-F238E27FC236}">
                <a16:creationId xmlns:a16="http://schemas.microsoft.com/office/drawing/2014/main" id="{C4DF8987-5E63-A963-9686-4B7CC334C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520" y="0"/>
            <a:ext cx="12191695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9B8216B-933A-3DFA-2162-FB4557E195B5}"/>
              </a:ext>
            </a:extLst>
          </p:cNvPr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1E2117-B212-FEA1-55DB-FE2CD1E8E968}"/>
              </a:ext>
            </a:extLst>
          </p:cNvPr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rPr dirty="0"/>
              <a:t>FRAUDELINK  /  RESPONSABILIDAD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F1C2A0-91C8-AD0E-1935-1439E19B9D5D}"/>
              </a:ext>
            </a:extLst>
          </p:cNvPr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13 / 15</a:t>
            </a:r>
          </a:p>
        </p:txBody>
      </p:sp>
      <p:cxnSp>
        <p:nvCxnSpPr>
          <p:cNvPr id="13" name="Connector 5">
            <a:extLst>
              <a:ext uri="{FF2B5EF4-FFF2-40B4-BE49-F238E27FC236}">
                <a16:creationId xmlns:a16="http://schemas.microsoft.com/office/drawing/2014/main" id="{98F23FCB-4CBA-E299-C854-7635EBE0DBBF}"/>
              </a:ext>
            </a:extLst>
          </p:cNvPr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BF7A507-E357-FCE5-806C-0FA2B4239772}"/>
              </a:ext>
            </a:extLst>
          </p:cNvPr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049CA8-A1CE-DE6B-7E5D-512EA6BFC42C}"/>
              </a:ext>
            </a:extLst>
          </p:cNvPr>
          <p:cNvSpPr txBox="1"/>
          <p:nvPr/>
        </p:nvSpPr>
        <p:spPr>
          <a:xfrm>
            <a:off x="566928" y="749808"/>
            <a:ext cx="10972800" cy="5232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rPr lang="en-US" sz="3400" b="1" dirty="0" err="1">
                <a:solidFill>
                  <a:srgbClr val="F5FAFF"/>
                </a:solidFill>
                <a:latin typeface="Aptos"/>
              </a:rPr>
              <a:t>Qué</a:t>
            </a:r>
            <a:r>
              <a:rPr lang="en-US" sz="3400" b="1" dirty="0">
                <a:solidFill>
                  <a:srgbClr val="F5FAFF"/>
                </a:solidFill>
                <a:latin typeface="Aptos"/>
              </a:rPr>
              <a:t> </a:t>
            </a:r>
            <a:r>
              <a:rPr lang="en-US" sz="3400" b="1" dirty="0" err="1">
                <a:solidFill>
                  <a:srgbClr val="F5FAFF"/>
                </a:solidFill>
                <a:latin typeface="Aptos"/>
              </a:rPr>
              <a:t>medimos</a:t>
            </a:r>
            <a:endParaRPr dirty="0"/>
          </a:p>
        </p:txBody>
      </p:sp>
      <p:sp>
        <p:nvSpPr>
          <p:cNvPr id="16" name="Rounded Rectangle 9">
            <a:extLst>
              <a:ext uri="{FF2B5EF4-FFF2-40B4-BE49-F238E27FC236}">
                <a16:creationId xmlns:a16="http://schemas.microsoft.com/office/drawing/2014/main" id="{37D2CCAB-A15B-A6FE-25FA-E429E083A5DA}"/>
              </a:ext>
            </a:extLst>
          </p:cNvPr>
          <p:cNvSpPr/>
          <p:nvPr/>
        </p:nvSpPr>
        <p:spPr>
          <a:xfrm>
            <a:off x="658368" y="2377440"/>
            <a:ext cx="9985248" cy="2953512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1D86E4-9CB1-7AC9-15C0-8771835EC345}"/>
              </a:ext>
            </a:extLst>
          </p:cNvPr>
          <p:cNvSpPr/>
          <p:nvPr/>
        </p:nvSpPr>
        <p:spPr>
          <a:xfrm>
            <a:off x="658368" y="2377440"/>
            <a:ext cx="50292" cy="295351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C0146D-D81F-3BF0-17A4-7CDE02189E48}"/>
              </a:ext>
            </a:extLst>
          </p:cNvPr>
          <p:cNvSpPr txBox="1"/>
          <p:nvPr/>
        </p:nvSpPr>
        <p:spPr>
          <a:xfrm>
            <a:off x="886968" y="2560320"/>
            <a:ext cx="4277314" cy="430887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>
            <a:defPPr>
              <a:defRPr lang="en-US"/>
            </a:defPPr>
            <a:lvl1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lvl1pPr>
          </a:lstStyle>
          <a:p>
            <a:r>
              <a:rPr lang="en-US" sz="2800" dirty="0" err="1"/>
              <a:t>Evidencia</a:t>
            </a:r>
            <a:r>
              <a:rPr lang="en-US" sz="2800" dirty="0"/>
              <a:t> de </a:t>
            </a:r>
            <a:r>
              <a:rPr lang="en-US" sz="2800" dirty="0" err="1"/>
              <a:t>desempeño</a:t>
            </a:r>
            <a:endParaRPr lang="en-US" sz="2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C95108-C53C-2B66-D36E-CD479C23D691}"/>
              </a:ext>
            </a:extLst>
          </p:cNvPr>
          <p:cNvSpPr txBox="1"/>
          <p:nvPr/>
        </p:nvSpPr>
        <p:spPr>
          <a:xfrm>
            <a:off x="886968" y="3163824"/>
            <a:ext cx="7647432" cy="158440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3 </a:t>
            </a:r>
            <a:r>
              <a:rPr lang="en-US" b="1" dirty="0" err="1">
                <a:solidFill>
                  <a:schemeClr val="bg1"/>
                </a:solidFill>
              </a:rPr>
              <a:t>operaciones</a:t>
            </a:r>
            <a:r>
              <a:rPr lang="en-US" b="1" dirty="0">
                <a:solidFill>
                  <a:schemeClr val="bg1"/>
                </a:solidFill>
              </a:rPr>
              <a:t> de GDS: </a:t>
            </a:r>
            <a:r>
              <a:rPr lang="en-US" b="1" dirty="0" err="1">
                <a:solidFill>
                  <a:schemeClr val="bg1"/>
                </a:solidFill>
              </a:rPr>
              <a:t>proyección</a:t>
            </a:r>
            <a:r>
              <a:rPr lang="en-US" b="1" dirty="0">
                <a:solidFill>
                  <a:schemeClr val="bg1"/>
                </a:solidFill>
              </a:rPr>
              <a:t>, WCC y Louvain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5 000 </a:t>
            </a:r>
            <a:r>
              <a:rPr lang="en-US" b="1" dirty="0" err="1">
                <a:solidFill>
                  <a:schemeClr val="bg1"/>
                </a:solidFill>
              </a:rPr>
              <a:t>cuentas</a:t>
            </a:r>
            <a:r>
              <a:rPr lang="en-US" b="1" dirty="0">
                <a:solidFill>
                  <a:schemeClr val="bg1"/>
                </a:solidFill>
              </a:rPr>
              <a:t> y 60 014 </a:t>
            </a:r>
            <a:r>
              <a:rPr lang="en-US" b="1" dirty="0" err="1">
                <a:solidFill>
                  <a:schemeClr val="bg1"/>
                </a:solidFill>
              </a:rPr>
              <a:t>relaciones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en</a:t>
            </a:r>
            <a:r>
              <a:rPr lang="en-US" b="1" dirty="0">
                <a:solidFill>
                  <a:schemeClr val="bg1"/>
                </a:solidFill>
              </a:rPr>
              <a:t> la </a:t>
            </a:r>
            <a:r>
              <a:rPr lang="en-US" b="1" dirty="0" err="1">
                <a:solidFill>
                  <a:schemeClr val="bg1"/>
                </a:solidFill>
              </a:rPr>
              <a:t>proyección</a:t>
            </a:r>
            <a:endParaRPr lang="en-US" b="1" dirty="0">
              <a:solidFill>
                <a:schemeClr val="bg1"/>
              </a:solidFill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Neo4j 5.26 Community, GDS 2.13.13, Docker</a:t>
            </a:r>
          </a:p>
        </p:txBody>
      </p:sp>
    </p:spTree>
    <p:extLst>
      <p:ext uri="{BB962C8B-B14F-4D97-AF65-F5344CB8AC3E}">
        <p14:creationId xmlns:p14="http://schemas.microsoft.com/office/powerpoint/2010/main" val="1821746823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BDDABC-30FD-C6AC-DB92-B9A654D21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xture_13.png">
            <a:extLst>
              <a:ext uri="{FF2B5EF4-FFF2-40B4-BE49-F238E27FC236}">
                <a16:creationId xmlns:a16="http://schemas.microsoft.com/office/drawing/2014/main" id="{EA5BEAB9-A28E-7C8E-8959-CB33FAA14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BD3B041-AD2D-E155-7339-18B7BDC9156A}"/>
              </a:ext>
            </a:extLst>
          </p:cNvPr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838F4B-E777-1ED2-87A1-71AF7D601F97}"/>
              </a:ext>
            </a:extLst>
          </p:cNvPr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92294E-A0E0-C78F-DDC8-E551ACA01107}"/>
              </a:ext>
            </a:extLst>
          </p:cNvPr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t>FRAUDELINK  /  RESPONSABILIDAD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E9426D-25E7-CAE0-67D4-A0D48688FA3D}"/>
              </a:ext>
            </a:extLst>
          </p:cNvPr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13 / 15</a:t>
            </a:r>
          </a:p>
        </p:txBody>
      </p:sp>
      <p:cxnSp>
        <p:nvCxnSpPr>
          <p:cNvPr id="7" name="Connector 5">
            <a:extLst>
              <a:ext uri="{FF2B5EF4-FFF2-40B4-BE49-F238E27FC236}">
                <a16:creationId xmlns:a16="http://schemas.microsoft.com/office/drawing/2014/main" id="{D5FA0104-B309-A111-3130-8D1D1FC29037}"/>
              </a:ext>
            </a:extLst>
          </p:cNvPr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89BC668-6CBD-C77F-347D-DB4230659F6E}"/>
              </a:ext>
            </a:extLst>
          </p:cNvPr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72EFD7-2E85-5459-281D-58E2A7BAA988}"/>
              </a:ext>
            </a:extLst>
          </p:cNvPr>
          <p:cNvSpPr txBox="1"/>
          <p:nvPr/>
        </p:nvSpPr>
        <p:spPr>
          <a:xfrm>
            <a:off x="566928" y="749808"/>
            <a:ext cx="10972800" cy="5232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rPr lang="en-US" sz="3400" b="1" dirty="0" err="1">
                <a:solidFill>
                  <a:srgbClr val="F5FAFF"/>
                </a:solidFill>
                <a:latin typeface="Aptos"/>
              </a:rPr>
              <a:t>Metodología</a:t>
            </a:r>
            <a:endParaRPr dirty="0"/>
          </a:p>
        </p:txBody>
      </p:sp>
      <p:sp>
        <p:nvSpPr>
          <p:cNvPr id="20" name="Rounded Rectangle 9">
            <a:extLst>
              <a:ext uri="{FF2B5EF4-FFF2-40B4-BE49-F238E27FC236}">
                <a16:creationId xmlns:a16="http://schemas.microsoft.com/office/drawing/2014/main" id="{D225EC57-3EB9-6979-BDAC-C917184B1FF1}"/>
              </a:ext>
            </a:extLst>
          </p:cNvPr>
          <p:cNvSpPr/>
          <p:nvPr/>
        </p:nvSpPr>
        <p:spPr>
          <a:xfrm>
            <a:off x="658368" y="2377440"/>
            <a:ext cx="9985248" cy="2953512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85A486-4495-068B-453B-4EE801DA31C4}"/>
              </a:ext>
            </a:extLst>
          </p:cNvPr>
          <p:cNvSpPr txBox="1"/>
          <p:nvPr/>
        </p:nvSpPr>
        <p:spPr>
          <a:xfrm>
            <a:off x="886968" y="2560320"/>
            <a:ext cx="3127248" cy="353943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F5FAFF"/>
                </a:solidFill>
                <a:latin typeface="Aptos"/>
              </a:defRPr>
            </a:pPr>
            <a:r>
              <a:rPr lang="en-US" sz="2300" b="1" dirty="0" err="1">
                <a:solidFill>
                  <a:srgbClr val="F5FAFF"/>
                </a:solidFill>
                <a:latin typeface="Aptos"/>
              </a:rPr>
              <a:t>Cómo</a:t>
            </a:r>
            <a:r>
              <a:rPr lang="en-US" sz="2300" b="1" dirty="0">
                <a:solidFill>
                  <a:srgbClr val="F5FAFF"/>
                </a:solidFill>
                <a:latin typeface="Aptos"/>
              </a:rPr>
              <a:t> </a:t>
            </a:r>
            <a:r>
              <a:rPr lang="en-US" sz="2300" b="1" dirty="0" err="1">
                <a:solidFill>
                  <a:srgbClr val="F5FAFF"/>
                </a:solidFill>
                <a:latin typeface="Aptos"/>
              </a:rPr>
              <a:t>medimos</a:t>
            </a:r>
            <a:endParaRPr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D0DC31-8FE1-D1B8-671B-0E5A2BEAFAC7}"/>
              </a:ext>
            </a:extLst>
          </p:cNvPr>
          <p:cNvSpPr txBox="1"/>
          <p:nvPr/>
        </p:nvSpPr>
        <p:spPr>
          <a:xfrm>
            <a:off x="926287" y="3001409"/>
            <a:ext cx="7647432" cy="2034531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5 corridas de </a:t>
            </a:r>
            <a:r>
              <a:rPr lang="en-US" b="1" dirty="0" err="1">
                <a:solidFill>
                  <a:schemeClr val="bg1"/>
                </a:solidFill>
              </a:rPr>
              <a:t>calentamiento</a:t>
            </a:r>
            <a:r>
              <a:rPr lang="en-US" b="1" dirty="0">
                <a:solidFill>
                  <a:schemeClr val="bg1"/>
                </a:solidFill>
              </a:rPr>
              <a:t> (</a:t>
            </a:r>
            <a:r>
              <a:rPr lang="en-US" b="1" dirty="0" err="1">
                <a:solidFill>
                  <a:schemeClr val="bg1"/>
                </a:solidFill>
              </a:rPr>
              <a:t>descartadas</a:t>
            </a:r>
            <a:r>
              <a:rPr lang="en-US" b="1" dirty="0">
                <a:solidFill>
                  <a:schemeClr val="bg1"/>
                </a:solidFill>
              </a:rPr>
              <a:t>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100 </a:t>
            </a:r>
            <a:r>
              <a:rPr lang="en-US" b="1" dirty="0" err="1">
                <a:solidFill>
                  <a:schemeClr val="bg1"/>
                </a:solidFill>
              </a:rPr>
              <a:t>repeticiones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por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algoritmo</a:t>
            </a:r>
            <a:endParaRPr lang="en-US" b="1" dirty="0">
              <a:solidFill>
                <a:schemeClr val="bg1"/>
              </a:solidFill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Media, </a:t>
            </a:r>
            <a:r>
              <a:rPr lang="en-US" b="1" dirty="0" err="1">
                <a:solidFill>
                  <a:schemeClr val="bg1"/>
                </a:solidFill>
              </a:rPr>
              <a:t>mediana</a:t>
            </a:r>
            <a:r>
              <a:rPr lang="en-US" b="1" dirty="0">
                <a:solidFill>
                  <a:schemeClr val="bg1"/>
                </a:solidFill>
              </a:rPr>
              <a:t>, </a:t>
            </a:r>
            <a:r>
              <a:rPr lang="en-US" b="1" dirty="0" err="1">
                <a:solidFill>
                  <a:schemeClr val="bg1"/>
                </a:solidFill>
              </a:rPr>
              <a:t>desviación</a:t>
            </a:r>
            <a:r>
              <a:rPr lang="en-US" b="1" dirty="0">
                <a:solidFill>
                  <a:schemeClr val="bg1"/>
                </a:solidFill>
              </a:rPr>
              <a:t>, </a:t>
            </a:r>
            <a:r>
              <a:rPr lang="en-US" b="1" dirty="0" err="1">
                <a:solidFill>
                  <a:schemeClr val="bg1"/>
                </a:solidFill>
              </a:rPr>
              <a:t>mínimo</a:t>
            </a:r>
            <a:r>
              <a:rPr lang="en-US" b="1" dirty="0">
                <a:solidFill>
                  <a:schemeClr val="bg1"/>
                </a:solidFill>
              </a:rPr>
              <a:t>, </a:t>
            </a:r>
            <a:r>
              <a:rPr lang="en-US" b="1" dirty="0" err="1">
                <a:solidFill>
                  <a:schemeClr val="bg1"/>
                </a:solidFill>
              </a:rPr>
              <a:t>máximo</a:t>
            </a:r>
            <a:r>
              <a:rPr lang="en-US" b="1" dirty="0">
                <a:solidFill>
                  <a:schemeClr val="bg1"/>
                </a:solidFill>
              </a:rPr>
              <a:t> y p95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IC 95 %: t de Student (media) y bootstrap (</a:t>
            </a:r>
            <a:r>
              <a:rPr lang="en-US" b="1" dirty="0" err="1">
                <a:solidFill>
                  <a:schemeClr val="bg1"/>
                </a:solidFill>
              </a:rPr>
              <a:t>mediana</a:t>
            </a:r>
            <a:r>
              <a:rPr lang="en-US" b="1" dirty="0">
                <a:solidFill>
                  <a:schemeClr val="bg1"/>
                </a:solidFill>
              </a:rPr>
              <a:t>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Primera corrida </a:t>
            </a:r>
            <a:r>
              <a:rPr lang="en-US" b="1" dirty="0" err="1">
                <a:solidFill>
                  <a:schemeClr val="bg1"/>
                </a:solidFill>
              </a:rPr>
              <a:t>guardada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como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tiempo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en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frío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345A84-7BAC-9FAE-C0E3-913E7D8C8844}"/>
              </a:ext>
            </a:extLst>
          </p:cNvPr>
          <p:cNvSpPr/>
          <p:nvPr/>
        </p:nvSpPr>
        <p:spPr>
          <a:xfrm>
            <a:off x="658368" y="2410691"/>
            <a:ext cx="50292" cy="2953512"/>
          </a:xfrm>
          <a:prstGeom prst="rect">
            <a:avLst/>
          </a:prstGeom>
          <a:solidFill>
            <a:srgbClr val="F26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6093306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1DF3F9-EB9D-769D-B477-5165C29EF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texture_12.png">
            <a:extLst>
              <a:ext uri="{FF2B5EF4-FFF2-40B4-BE49-F238E27FC236}">
                <a16:creationId xmlns:a16="http://schemas.microsoft.com/office/drawing/2014/main" id="{1DAFE05E-408F-FBE1-1F37-73E699D3C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2" name="Picture 1" descr="texture_13.png">
            <a:extLst>
              <a:ext uri="{FF2B5EF4-FFF2-40B4-BE49-F238E27FC236}">
                <a16:creationId xmlns:a16="http://schemas.microsoft.com/office/drawing/2014/main" id="{91D9ABA3-1AE9-1C3D-DE0C-F847FAD3CC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D85C089-1C00-30B0-A77F-F63E5C409D3B}"/>
              </a:ext>
            </a:extLst>
          </p:cNvPr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FD501C-9BFE-9DB8-0741-E3602BAE66D3}"/>
              </a:ext>
            </a:extLst>
          </p:cNvPr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EEFD9F-F96F-622A-87B4-0D44D7942DBB}"/>
              </a:ext>
            </a:extLst>
          </p:cNvPr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t>FRAUDELINK  /  RESPONSABILIDAD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4A257F-93AA-D192-3CFB-CC5F21B9C659}"/>
              </a:ext>
            </a:extLst>
          </p:cNvPr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13 / 15</a:t>
            </a:r>
          </a:p>
        </p:txBody>
      </p:sp>
      <p:cxnSp>
        <p:nvCxnSpPr>
          <p:cNvPr id="7" name="Connector 5">
            <a:extLst>
              <a:ext uri="{FF2B5EF4-FFF2-40B4-BE49-F238E27FC236}">
                <a16:creationId xmlns:a16="http://schemas.microsoft.com/office/drawing/2014/main" id="{A7665EC1-647A-16C8-D10B-5AC37723FDEB}"/>
              </a:ext>
            </a:extLst>
          </p:cNvPr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5E997BA-741A-7BE7-4468-815DCC07B7F9}"/>
              </a:ext>
            </a:extLst>
          </p:cNvPr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1356CB-92D2-DD19-5EE3-885055885037}"/>
              </a:ext>
            </a:extLst>
          </p:cNvPr>
          <p:cNvSpPr txBox="1"/>
          <p:nvPr/>
        </p:nvSpPr>
        <p:spPr>
          <a:xfrm>
            <a:off x="566928" y="749808"/>
            <a:ext cx="10972800" cy="5232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rPr lang="en-US" sz="3400" b="1" dirty="0" err="1">
                <a:solidFill>
                  <a:srgbClr val="F5FAFF"/>
                </a:solidFill>
                <a:latin typeface="Aptos"/>
              </a:rPr>
              <a:t>Resultados</a:t>
            </a:r>
            <a:endParaRPr dirty="0"/>
          </a:p>
        </p:txBody>
      </p:sp>
      <p:sp>
        <p:nvSpPr>
          <p:cNvPr id="20" name="Rounded Rectangle 9">
            <a:extLst>
              <a:ext uri="{FF2B5EF4-FFF2-40B4-BE49-F238E27FC236}">
                <a16:creationId xmlns:a16="http://schemas.microsoft.com/office/drawing/2014/main" id="{B540BA67-D5EF-C0E4-688A-08A31D55A355}"/>
              </a:ext>
            </a:extLst>
          </p:cNvPr>
          <p:cNvSpPr/>
          <p:nvPr/>
        </p:nvSpPr>
        <p:spPr>
          <a:xfrm>
            <a:off x="658367" y="1455908"/>
            <a:ext cx="11374305" cy="3875044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b="1" dirty="0"/>
              <a:t>Louvain es </a:t>
            </a:r>
            <a:r>
              <a:rPr lang="en-US" b="1" dirty="0" err="1"/>
              <a:t>unas</a:t>
            </a:r>
            <a:r>
              <a:rPr lang="en-US" b="1" dirty="0"/>
              <a:t> 170 </a:t>
            </a:r>
            <a:r>
              <a:rPr lang="en-US" dirty="0" err="1"/>
              <a:t>escalas</a:t>
            </a:r>
            <a:r>
              <a:rPr lang="en-US" dirty="0"/>
              <a:t> </a:t>
            </a:r>
            <a:r>
              <a:rPr lang="en-US" dirty="0" err="1"/>
              <a:t>mayores</a:t>
            </a:r>
            <a:r>
              <a:rPr lang="en-US" dirty="0"/>
              <a:t>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E9D2F9-B3F9-23DE-C99E-E3DF54C3EFA3}"/>
              </a:ext>
            </a:extLst>
          </p:cNvPr>
          <p:cNvSpPr/>
          <p:nvPr/>
        </p:nvSpPr>
        <p:spPr>
          <a:xfrm>
            <a:off x="672084" y="1455908"/>
            <a:ext cx="50292" cy="3920763"/>
          </a:xfrm>
          <a:prstGeom prst="rect">
            <a:avLst/>
          </a:prstGeom>
          <a:solidFill>
            <a:srgbClr val="FFB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72BD300-A1C2-C648-D42B-51C4BE92B1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1635142"/>
            <a:ext cx="5505794" cy="8028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8346681-E466-F65B-B717-3542F62DEE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071" y="1574868"/>
            <a:ext cx="5010846" cy="357651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BD62C4C-3E40-6DEE-4EAE-72E4ED0BA414}"/>
              </a:ext>
            </a:extLst>
          </p:cNvPr>
          <p:cNvSpPr txBox="1"/>
          <p:nvPr/>
        </p:nvSpPr>
        <p:spPr>
          <a:xfrm>
            <a:off x="5970612" y="2928559"/>
            <a:ext cx="606206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Louvain es </a:t>
            </a:r>
            <a:r>
              <a:rPr lang="en-US" dirty="0" err="1">
                <a:solidFill>
                  <a:schemeClr val="bg1"/>
                </a:solidFill>
              </a:rPr>
              <a:t>más</a:t>
            </a:r>
            <a:r>
              <a:rPr lang="en-US" dirty="0">
                <a:solidFill>
                  <a:schemeClr val="bg1"/>
                </a:solidFill>
              </a:rPr>
              <a:t> lento </a:t>
            </a:r>
            <a:r>
              <a:rPr lang="en-US" dirty="0" err="1">
                <a:solidFill>
                  <a:schemeClr val="bg1"/>
                </a:solidFill>
              </a:rPr>
              <a:t>que</a:t>
            </a:r>
            <a:r>
              <a:rPr lang="en-US" dirty="0">
                <a:solidFill>
                  <a:schemeClr val="bg1"/>
                </a:solidFill>
              </a:rPr>
              <a:t> WCC (</a:t>
            </a:r>
            <a:r>
              <a:rPr lang="en-US" dirty="0" err="1">
                <a:solidFill>
                  <a:schemeClr val="bg1"/>
                </a:solidFill>
              </a:rPr>
              <a:t>mediana</a:t>
            </a:r>
            <a:r>
              <a:rPr lang="en-US" dirty="0">
                <a:solidFill>
                  <a:schemeClr val="bg1"/>
                </a:solidFill>
              </a:rPr>
              <a:t> de 5,28 s </a:t>
            </a:r>
            <a:r>
              <a:rPr lang="en-US" dirty="0" err="1">
                <a:solidFill>
                  <a:schemeClr val="bg1"/>
                </a:solidFill>
              </a:rPr>
              <a:t>frente</a:t>
            </a:r>
            <a:r>
              <a:rPr lang="en-US" dirty="0">
                <a:solidFill>
                  <a:schemeClr val="bg1"/>
                </a:solidFill>
              </a:rPr>
              <a:t> a 0,03 s), y sus </a:t>
            </a:r>
            <a:r>
              <a:rPr lang="en-US" dirty="0" err="1">
                <a:solidFill>
                  <a:schemeClr val="bg1"/>
                </a:solidFill>
              </a:rPr>
              <a:t>intervalos</a:t>
            </a:r>
            <a:r>
              <a:rPr lang="en-US" dirty="0">
                <a:solidFill>
                  <a:schemeClr val="bg1"/>
                </a:solidFill>
              </a:rPr>
              <a:t> de confianza no se </a:t>
            </a:r>
            <a:r>
              <a:rPr lang="en-US" dirty="0" err="1">
                <a:solidFill>
                  <a:schemeClr val="bg1"/>
                </a:solidFill>
              </a:rPr>
              <a:t>traslapan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100 </a:t>
            </a:r>
            <a:r>
              <a:rPr lang="en-US" dirty="0" err="1">
                <a:solidFill>
                  <a:schemeClr val="bg1"/>
                </a:solidFill>
              </a:rPr>
              <a:t>repeticiones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por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algoritmo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en</a:t>
            </a:r>
            <a:r>
              <a:rPr lang="en-US" dirty="0">
                <a:solidFill>
                  <a:schemeClr val="bg1"/>
                </a:solidFill>
              </a:rPr>
              <a:t> un solo </a:t>
            </a:r>
            <a:r>
              <a:rPr lang="en-US" dirty="0" err="1">
                <a:solidFill>
                  <a:schemeClr val="bg1"/>
                </a:solidFill>
              </a:rPr>
              <a:t>equipo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sirven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como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orden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magnitud</a:t>
            </a:r>
            <a:r>
              <a:rPr lang="en-US" dirty="0">
                <a:solidFill>
                  <a:schemeClr val="bg1"/>
                </a:solidFill>
              </a:rPr>
              <a:t> para 5 000 </a:t>
            </a:r>
            <a:r>
              <a:rPr lang="en-US" dirty="0" err="1">
                <a:solidFill>
                  <a:schemeClr val="bg1"/>
                </a:solidFill>
              </a:rPr>
              <a:t>cuentas</a:t>
            </a:r>
            <a:r>
              <a:rPr lang="en-US" dirty="0">
                <a:solidFill>
                  <a:schemeClr val="bg1"/>
                </a:solidFill>
              </a:rPr>
              <a:t>, no para </a:t>
            </a:r>
            <a:r>
              <a:rPr lang="en-US" dirty="0" err="1">
                <a:solidFill>
                  <a:schemeClr val="bg1"/>
                </a:solidFill>
              </a:rPr>
              <a:t>escalas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mayores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3109534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303A7D-A53E-A299-2386-BEEFA1CC8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xture_13.png">
            <a:extLst>
              <a:ext uri="{FF2B5EF4-FFF2-40B4-BE49-F238E27FC236}">
                <a16:creationId xmlns:a16="http://schemas.microsoft.com/office/drawing/2014/main" id="{63CEB79B-29E4-4DBB-F805-1DC06DA16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D64263D-5520-2083-05BC-A44F16156E17}"/>
              </a:ext>
            </a:extLst>
          </p:cNvPr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022322-0B4A-C19D-D2B1-8FC4EA305F83}"/>
              </a:ext>
            </a:extLst>
          </p:cNvPr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C7EC81-266F-392B-33D8-BCE202A42B8C}"/>
              </a:ext>
            </a:extLst>
          </p:cNvPr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t>FRAUDELINK  /  RESPONSABILIDAD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4160DB-3CC2-12AA-9E38-66E6B1EE3CB0}"/>
              </a:ext>
            </a:extLst>
          </p:cNvPr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13 / 15</a:t>
            </a:r>
          </a:p>
        </p:txBody>
      </p:sp>
      <p:cxnSp>
        <p:nvCxnSpPr>
          <p:cNvPr id="7" name="Connector 5">
            <a:extLst>
              <a:ext uri="{FF2B5EF4-FFF2-40B4-BE49-F238E27FC236}">
                <a16:creationId xmlns:a16="http://schemas.microsoft.com/office/drawing/2014/main" id="{86302789-D3AC-EA47-CCCA-99D1C19C41C2}"/>
              </a:ext>
            </a:extLst>
          </p:cNvPr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46EDD22-D930-0A4A-9832-0DEA4D20EABC}"/>
              </a:ext>
            </a:extLst>
          </p:cNvPr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C39B88-6F62-A3C3-390E-BB9CF6AA858B}"/>
              </a:ext>
            </a:extLst>
          </p:cNvPr>
          <p:cNvSpPr txBox="1"/>
          <p:nvPr/>
        </p:nvSpPr>
        <p:spPr>
          <a:xfrm>
            <a:off x="566928" y="749808"/>
            <a:ext cx="10972800" cy="5232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rPr lang="en-US" sz="3400" b="1" dirty="0" err="1">
                <a:solidFill>
                  <a:srgbClr val="F5FAFF"/>
                </a:solidFill>
                <a:latin typeface="Aptos"/>
              </a:rPr>
              <a:t>Límites</a:t>
            </a:r>
            <a:endParaRPr dirty="0"/>
          </a:p>
        </p:txBody>
      </p:sp>
      <p:sp>
        <p:nvSpPr>
          <p:cNvPr id="20" name="Rounded Rectangle 9">
            <a:extLst>
              <a:ext uri="{FF2B5EF4-FFF2-40B4-BE49-F238E27FC236}">
                <a16:creationId xmlns:a16="http://schemas.microsoft.com/office/drawing/2014/main" id="{05AAAE88-FFEE-FD0B-DF4B-E8CE1F56180A}"/>
              </a:ext>
            </a:extLst>
          </p:cNvPr>
          <p:cNvSpPr/>
          <p:nvPr/>
        </p:nvSpPr>
        <p:spPr>
          <a:xfrm>
            <a:off x="658368" y="2377440"/>
            <a:ext cx="9985248" cy="2953512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7FFED1-0741-1690-C4A7-4C831FBA9364}"/>
              </a:ext>
            </a:extLst>
          </p:cNvPr>
          <p:cNvSpPr txBox="1"/>
          <p:nvPr/>
        </p:nvSpPr>
        <p:spPr>
          <a:xfrm>
            <a:off x="886967" y="2560320"/>
            <a:ext cx="5804777" cy="353943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F5FAFF"/>
                </a:solidFill>
                <a:latin typeface="Aptos"/>
              </a:defRPr>
            </a:pPr>
            <a:r>
              <a:rPr lang="en-US" sz="2300" b="1" dirty="0" err="1">
                <a:solidFill>
                  <a:srgbClr val="F5FAFF"/>
                </a:solidFill>
                <a:latin typeface="Aptos"/>
              </a:rPr>
              <a:t>Qué</a:t>
            </a:r>
            <a:r>
              <a:rPr lang="en-US" sz="2300" b="1" dirty="0">
                <a:solidFill>
                  <a:srgbClr val="F5FAFF"/>
                </a:solidFill>
                <a:latin typeface="Aptos"/>
              </a:rPr>
              <a:t> no </a:t>
            </a:r>
            <a:r>
              <a:rPr lang="en-US" sz="2300" b="1" dirty="0" err="1">
                <a:solidFill>
                  <a:srgbClr val="F5FAFF"/>
                </a:solidFill>
                <a:latin typeface="Aptos"/>
              </a:rPr>
              <a:t>demuestra</a:t>
            </a:r>
            <a:r>
              <a:rPr lang="en-US" sz="2300" b="1" dirty="0">
                <a:solidFill>
                  <a:srgbClr val="F5FAFF"/>
                </a:solidFill>
                <a:latin typeface="Aptos"/>
              </a:rPr>
              <a:t> el benchmark</a:t>
            </a:r>
            <a:endParaRPr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21142A-4F07-5068-B9E4-9B91E1D39815}"/>
              </a:ext>
            </a:extLst>
          </p:cNvPr>
          <p:cNvSpPr txBox="1"/>
          <p:nvPr/>
        </p:nvSpPr>
        <p:spPr>
          <a:xfrm>
            <a:off x="926287" y="3001409"/>
            <a:ext cx="7647432" cy="158440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Mediación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en</a:t>
            </a:r>
            <a:r>
              <a:rPr lang="en-US" dirty="0">
                <a:solidFill>
                  <a:schemeClr val="bg1"/>
                </a:solidFill>
              </a:rPr>
              <a:t> un solo </a:t>
            </a:r>
            <a:r>
              <a:rPr lang="en-US" dirty="0" err="1">
                <a:solidFill>
                  <a:schemeClr val="bg1"/>
                </a:solidFill>
              </a:rPr>
              <a:t>equipo</a:t>
            </a:r>
            <a:r>
              <a:rPr lang="en-US" dirty="0">
                <a:solidFill>
                  <a:schemeClr val="bg1"/>
                </a:solidFill>
              </a:rPr>
              <a:t> y con </a:t>
            </a:r>
            <a:r>
              <a:rPr lang="en-US" dirty="0" err="1">
                <a:solidFill>
                  <a:schemeClr val="bg1"/>
                </a:solidFill>
              </a:rPr>
              <a:t>los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datos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utilizados</a:t>
            </a:r>
            <a:r>
              <a:rPr lang="en-US" dirty="0">
                <a:solidFill>
                  <a:schemeClr val="bg1"/>
                </a:solidFill>
              </a:rPr>
              <a:t>, no </a:t>
            </a:r>
            <a:r>
              <a:rPr lang="en-US" dirty="0" err="1">
                <a:solidFill>
                  <a:schemeClr val="bg1"/>
                </a:solidFill>
              </a:rPr>
              <a:t>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otros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entornos</a:t>
            </a:r>
            <a:endParaRPr lang="en-US" dirty="0">
              <a:solidFill>
                <a:schemeClr val="bg1"/>
              </a:solidFill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5 000 </a:t>
            </a:r>
            <a:r>
              <a:rPr lang="en-US" dirty="0" err="1">
                <a:solidFill>
                  <a:schemeClr val="bg1"/>
                </a:solidFill>
              </a:rPr>
              <a:t>cuentas</a:t>
            </a:r>
            <a:r>
              <a:rPr lang="en-US" dirty="0">
                <a:solidFill>
                  <a:schemeClr val="bg1"/>
                </a:solidFill>
              </a:rPr>
              <a:t>: no se </a:t>
            </a:r>
            <a:r>
              <a:rPr lang="en-US" dirty="0" err="1">
                <a:solidFill>
                  <a:schemeClr val="bg1"/>
                </a:solidFill>
              </a:rPr>
              <a:t>extrapola</a:t>
            </a:r>
            <a:r>
              <a:rPr lang="en-US" dirty="0">
                <a:solidFill>
                  <a:schemeClr val="bg1"/>
                </a:solidFill>
              </a:rPr>
              <a:t> a </a:t>
            </a:r>
            <a:r>
              <a:rPr lang="en-US" dirty="0" err="1">
                <a:solidFill>
                  <a:schemeClr val="bg1"/>
                </a:solidFill>
              </a:rPr>
              <a:t>millones</a:t>
            </a:r>
            <a:endParaRPr lang="en-US" dirty="0">
              <a:solidFill>
                <a:schemeClr val="bg1"/>
              </a:solidFill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Community: </a:t>
            </a:r>
            <a:r>
              <a:rPr lang="en-US" dirty="0" err="1">
                <a:solidFill>
                  <a:schemeClr val="bg1"/>
                </a:solidFill>
              </a:rPr>
              <a:t>una</a:t>
            </a:r>
            <a:r>
              <a:rPr lang="en-US" dirty="0">
                <a:solidFill>
                  <a:schemeClr val="bg1"/>
                </a:solidFill>
              </a:rPr>
              <a:t> sola </a:t>
            </a:r>
            <a:r>
              <a:rPr lang="en-US" dirty="0" err="1">
                <a:solidFill>
                  <a:schemeClr val="bg1"/>
                </a:solidFill>
              </a:rPr>
              <a:t>instancia</a:t>
            </a:r>
            <a:r>
              <a:rPr lang="en-US" dirty="0">
                <a:solidFill>
                  <a:schemeClr val="bg1"/>
                </a:solidFill>
              </a:rPr>
              <a:t>, GDS con 4 </a:t>
            </a:r>
            <a:r>
              <a:rPr lang="en-US" dirty="0" err="1">
                <a:solidFill>
                  <a:schemeClr val="bg1"/>
                </a:solidFill>
              </a:rPr>
              <a:t>núcleo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2B07A79-A937-4383-403E-56D9877F7671}"/>
              </a:ext>
            </a:extLst>
          </p:cNvPr>
          <p:cNvSpPr/>
          <p:nvPr/>
        </p:nvSpPr>
        <p:spPr>
          <a:xfrm>
            <a:off x="658368" y="2372868"/>
            <a:ext cx="50292" cy="2953512"/>
          </a:xfrm>
          <a:prstGeom prst="rect">
            <a:avLst/>
          </a:prstGeom>
          <a:solidFill>
            <a:srgbClr val="FFB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431986453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xture_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t>FRAUDELINK  / 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16 / 17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49808"/>
            <a:ext cx="10972800" cy="9326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t>Ese grupo ya no se puede esconder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10881360" cy="5760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AFC3D6"/>
                </a:solidFill>
                <a:latin typeface="Aptos"/>
              </a:defRPr>
            </a:pPr>
            <a:r>
              <a:t>Volvamos a la pregunta del inicio: ¿cuánta plata se les está yendo sin que nadie lo vea?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286000"/>
            <a:ext cx="5349240" cy="777240"/>
          </a:xfrm>
          <a:prstGeom prst="roundRect">
            <a:avLst>
              <a:gd name="adj" fmla="val 30000"/>
            </a:avLst>
          </a:prstGeom>
          <a:solidFill>
            <a:srgbClr val="0B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FaCircleCheck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2482596"/>
            <a:ext cx="384048" cy="384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63040" y="2441448"/>
            <a:ext cx="4389120" cy="45720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800" b="1" i="0">
                <a:solidFill>
                  <a:srgbClr val="F5FAFF"/>
                </a:solidFill>
                <a:latin typeface="Aptos"/>
              </a:rPr>
              <a:t>Ven el círculo de plata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286000"/>
            <a:ext cx="5349240" cy="777240"/>
          </a:xfrm>
          <a:prstGeom prst="roundRect">
            <a:avLst>
              <a:gd name="adj" fmla="val 30000"/>
            </a:avLst>
          </a:prstGeom>
          <a:solidFill>
            <a:srgbClr val="0B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FaCircleCheck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2482596"/>
            <a:ext cx="384048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995160" y="2441448"/>
            <a:ext cx="4389120" cy="45720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800" b="1" i="0">
                <a:solidFill>
                  <a:srgbClr val="F5FAFF"/>
                </a:solidFill>
                <a:latin typeface="Aptos"/>
              </a:rPr>
              <a:t>Ven el celular que comparten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46120"/>
            <a:ext cx="5349240" cy="777240"/>
          </a:xfrm>
          <a:prstGeom prst="roundRect">
            <a:avLst>
              <a:gd name="adj" fmla="val 30000"/>
            </a:avLst>
          </a:prstGeom>
          <a:solidFill>
            <a:srgbClr val="0B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FaCircleCheck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442715"/>
            <a:ext cx="384048" cy="3840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63040" y="3401568"/>
            <a:ext cx="4389120" cy="45720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800" b="1" i="0">
                <a:solidFill>
                  <a:srgbClr val="F5FAFF"/>
                </a:solidFill>
                <a:latin typeface="Aptos"/>
              </a:rPr>
              <a:t>Ven quién hace de puente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246120"/>
            <a:ext cx="5349240" cy="777240"/>
          </a:xfrm>
          <a:prstGeom prst="roundRect">
            <a:avLst>
              <a:gd name="adj" fmla="val 30000"/>
            </a:avLst>
          </a:prstGeom>
          <a:solidFill>
            <a:srgbClr val="0B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FaCircleCheck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3442715"/>
            <a:ext cx="384048" cy="3840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95160" y="3401568"/>
            <a:ext cx="4389120" cy="45720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800" b="1" i="0">
                <a:solidFill>
                  <a:srgbClr val="F5FAFF"/>
                </a:solidFill>
                <a:latin typeface="Aptos"/>
              </a:rPr>
              <a:t>Saben por dónde empezar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343400"/>
            <a:ext cx="10881360" cy="1554480"/>
          </a:xfrm>
          <a:prstGeom prst="roundRect">
            <a:avLst>
              <a:gd name="adj" fmla="val 15000"/>
            </a:avLst>
          </a:prstGeom>
          <a:solidFill>
            <a:srgbClr val="12304F"/>
          </a:solidFill>
          <a:ln w="15875">
            <a:solidFill>
              <a:srgbClr val="FFB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4526280"/>
            <a:ext cx="10149840" cy="11887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sz="2800" b="1" i="0">
                <a:solidFill>
                  <a:srgbClr val="F5FAFF"/>
                </a:solidFill>
                <a:latin typeface="Aptos"/>
              </a:rPr>
              <a:t>Empezar no les cuesta licencias.</a:t>
            </a:r>
          </a:p>
          <a:p>
            <a:pPr algn="ctr"/>
            <a:r>
              <a:rPr sz="2800" b="1" i="0">
                <a:solidFill>
                  <a:srgbClr val="FFBF66"/>
                </a:solidFill>
                <a:latin typeface="Aptos"/>
              </a:rPr>
              <a:t>Seguir sin verlo, sí les cuesta. Todos los días.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5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4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texture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t>FRAUDELINK  / 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17 / 17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49808"/>
            <a:ext cx="10972800" cy="9326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t>FRAUDELINK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10881360" cy="5760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AFC3D6"/>
                </a:solidFill>
                <a:latin typeface="Aptos"/>
              </a:defRPr>
            </a:pPr>
            <a:r>
              <a:t>El fraude se esconde en las conexiones.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48840"/>
            <a:ext cx="10789920" cy="7315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5FAFF"/>
                </a:solidFill>
                <a:latin typeface="Aptos"/>
              </a:defRPr>
            </a:pPr>
            <a:r>
              <a:t>Nosotros se las ponemos a la vista.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3218688"/>
            <a:ext cx="10789920" cy="64008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675887"/>
            <a:ext cx="1828800" cy="3474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0D6E7"/>
                </a:solidFill>
                <a:latin typeface="Aptos"/>
              </a:defRPr>
            </a:pPr>
            <a:r>
              <a:t>EQUIPO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96512"/>
            <a:ext cx="10789920" cy="17373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F5FAFF"/>
                </a:solidFill>
                <a:latin typeface="Aptos"/>
              </a:defRPr>
            </a:pPr>
            <a:r>
              <a:t>Laura Obando Esquivel</a:t>
            </a:r>
          </a:p>
          <a:p>
            <a:pPr>
              <a:spcAft>
                <a:spcPts val="400"/>
              </a:spcAft>
              <a:defRPr sz="1800" b="0">
                <a:solidFill>
                  <a:srgbClr val="F5FAFF"/>
                </a:solidFill>
                <a:latin typeface="Aptos"/>
              </a:defRPr>
            </a:pPr>
            <a:r>
              <a:t>Camila Mendoza Ramírez</a:t>
            </a:r>
          </a:p>
          <a:p>
            <a:pPr>
              <a:spcAft>
                <a:spcPts val="400"/>
              </a:spcAft>
              <a:defRPr sz="1800" b="0">
                <a:solidFill>
                  <a:srgbClr val="F5FAFF"/>
                </a:solidFill>
                <a:latin typeface="Aptos"/>
              </a:defRPr>
            </a:pPr>
            <a:r>
              <a:t>Jimena Ramírez Zamora</a:t>
            </a:r>
          </a:p>
          <a:p>
            <a:pPr>
              <a:spcAft>
                <a:spcPts val="400"/>
              </a:spcAft>
              <a:defRPr sz="1800" b="0">
                <a:solidFill>
                  <a:srgbClr val="F5FAFF"/>
                </a:solidFill>
                <a:latin typeface="Aptos"/>
              </a:defRPr>
            </a:pPr>
            <a:r>
              <a:t>Alex Díaz Sancho</a:t>
            </a:r>
          </a:p>
          <a:p>
            <a:pPr>
              <a:spcAft>
                <a:spcPts val="400"/>
              </a:spcAft>
              <a:defRPr sz="1800" b="0">
                <a:solidFill>
                  <a:srgbClr val="F5FAFF"/>
                </a:solidFill>
                <a:latin typeface="Aptos"/>
              </a:defRPr>
            </a:pPr>
            <a:r>
              <a:t>Fabián Almirall Marchena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069080"/>
            <a:ext cx="4572000" cy="1463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3000" b="1" i="0">
                <a:solidFill>
                  <a:srgbClr val="20D6E7"/>
                </a:solidFill>
                <a:latin typeface="Aptos"/>
              </a:rPr>
              <a:t>¡Muchas gracias!</a:t>
            </a:r>
          </a:p>
          <a:p>
            <a:pPr algn="r">
              <a:spcAft>
                <a:spcPts val="600"/>
              </a:spcAft>
            </a:pPr>
            <a:r>
              <a:rPr sz="1600" b="0" i="0">
                <a:solidFill>
                  <a:srgbClr val="AFC3D6"/>
                </a:solidFill>
                <a:latin typeface="Aptos"/>
              </a:rPr>
              <a:t>Con gusto respondemos sus preguntas.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3190</Words>
  <Application>Microsoft Office PowerPoint</Application>
  <PresentationFormat>Widescreen</PresentationFormat>
  <Paragraphs>294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Cami Mendoza</dc:creator>
  <cp:keywords/>
  <dc:description>generated using python-pptx</dc:description>
  <cp:lastModifiedBy>FABIAN ANTONIO ALMIRALL MARCHENA</cp:lastModifiedBy>
  <cp:revision>6</cp:revision>
  <dcterms:created xsi:type="dcterms:W3CDTF">2013-01-27T09:14:16Z</dcterms:created>
  <dcterms:modified xsi:type="dcterms:W3CDTF">2026-10-12T15:27:46Z</dcterms:modified>
  <cp:category/>
</cp:coreProperties>
</file>