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6" r:id="rId12"/>
    <p:sldId id="261" r:id="rId7"/>
    <p:sldId id="259" r:id="rId5"/>
    <p:sldId id="260" r:id="rId6"/>
    <p:sldId id="258" r:id="rId4"/>
    <p:sldId id="262" r:id="rId8"/>
    <p:sldId id="265" r:id="rId11"/>
    <p:sldId id="271" r:id="rId22"/>
    <p:sldId id="263" r:id="rId9"/>
    <p:sldId id="264" r:id="rId10"/>
    <p:sldId id="268" r:id="rId14"/>
    <p:sldId id="269" r:id="rId15"/>
    <p:sldId id="267" r:id="rId13"/>
    <p:sldId id="272" r:id="rId23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7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4.xml"/><Relationship Id="rId8" Type="http://schemas.openxmlformats.org/officeDocument/2006/relationships/slide" Target="slides/slide8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9.xml"/><Relationship Id="rId12" Type="http://schemas.openxmlformats.org/officeDocument/2006/relationships/slide" Target="slides/slide3.xml"/><Relationship Id="rId13" Type="http://schemas.openxmlformats.org/officeDocument/2006/relationships/slide" Target="slides/slide15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0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725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LAURA (0:00). Buenas tardes. Les quiero hacer una pregunta: ¿cuánta plata se les está yendo hoy sin que nadie se dé cuenta? No por un error, sino porque alguien encontró cómo esconderla. Somos Laura, Camila, Jimena, Alex y Fabián, y venimos a ayudarles a encontrar esa plata antes de que se pierda.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LAURA. Imagínense esto: un grupo abre veinte cuentas con nombres distintos. Todas se manejan desde el mismo par de celulares. Se pasan la plata de una a otra, en círculo, hasta que nadie sabe de dónde salió. Y lo peor: cada movimiento, visto solo, parece de lo más normal. Nadie levanta la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CAMILA. En el mapa hay cinco cosas: las personas, sus cuentas, los celulares, las conexiones a internet y los comercios donde pagan. Si nueve personas distintas usan el mismo celular, en una hoja de Excel nadie lo nota; en el mapa, nueve rayas llegan al mismo punto y salta a la vista. Y no es una idea en papel: ya lo probamos con más de 12 000 puntos y 66 000 conexiones. Transición: Alex les cuenta por qué pueden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CAMILA (2:00). Hoy la información de una empresa suele estar como en un montón de hojas de Excel: una de clientes, otra de cuentas, otra de transferencias. Para seguir la plata hay que ir saltando de hoja en hoja, cruzando nombres a mano. FraudeLink funciona como un mapa: cada persona, cuenta y celular es un punto, y las rayas entre ellos son las conexiones. Para seguir la plata, solo se sigue la raya.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CAMILA. Los estafadores cambian de truco todo el tiempo. Con el sistema de siempre, cada truco nuevo significa armar una búsqueda nueva desde cero: solo para calcular el riesgo de una cuenta hacen falta 13 cruces de tablas. Con FraudeLink se cambia un detalle y listo. Su equipo reacciona el mismo día, no al mes, cuando la plata ya se fue. Lo armamos con Neo4j, la herramienta más usada para este tipo de mapas, y es gratis.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LAURA. FraudeLink les pone todo en un solo mapa: quién tiene qué cuenta, desde qué celular se conecta y a quién le manda plata. Con ese mapa, su equipo ve el grupo completo de un vistazo, puede explicar con pelos y señales por qué una cuenta es sospechosa, y deja de perder tiempo: de 5 000 cuentas, FraudeLink les dice cuáles 5 revisar primero. Transición: ¿por qué esto funciona mejor que lo que tienen hoy? Camila les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ALEX (4:30). Una herramienta que se equivoca sale más cara que no tener ninguna, porque pone a su gente a perseguir fantasmas. Antes de venir a pedirles que confíen, hicimos la prueba: escondimos a propósito dos grupos que se pasaban la plata en círculo, entre miles de movimientos normales. FraudeLink encontró los 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FABIÁN (10:30). Lo que acaban de ver no es un truco de presentación. Escondimos dos grupos que se pasaban la plata en círculo, y FraudeLink los encontró a los dos. Todas las cuentas de esos grupos quedaron entre las 20 primeras de la lista. No se le escapó ninguna.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FABIÁN. Y es rápido: revisar el mapa completo y armar los grupos toma unos 5 segundos, y lo repetimos 100 veces para estar seguros. También lo pusimos a competir con el sistema de siempre. En las preguntas sencillas los dos responden en segundos, y el de siempre hasta va un poquito adelante. Pero en la pregunta que de verdad importa — ¿por dónde pasó la plata para llegar de esta cuenta a aquella? — FraudeLink fue más del doble de rápido. Transición: ahora, hablemos claro de lo que falta y de cuánto cuesta.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ALEX. Cada persona, cuenta y celular aparece una sola vez: no hay dobles que confundan. Una alarma que suena a cada rato termina siendo ignorada, y cada falsa alarma es una hora de trabajo pagada para nada; FraudeLink solo avisa cuando la plata se mueve como el lavado. Y cada cuenta suma puntos por razones que cualquiera entiende. Si un gerente pregunta por qué se congeló una cuenta, la respuesta está ahí, clarita. Transición: pero mejor que contárselo, se los enseñamos.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LAURA. ¿Y quién paga eso? Ustedes. Cada colón que se va en un fraude no vuelve. Pero no es solo esa plata: son las horas de su gente revisando cuenta por cuenta sin saber por dónde empezar, son los clientes honestos que se van cuando sienten que su dinero no está seguro, y es el nombre de la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JIMENA. Les proponemos una prueba con sus propios datos, en cuatro pasos: sentarnos con su equipo a ver qué fraudes les duelen más, correr FraudeLink con casos que ustedes ya conocen, conectarlo con su seguridad, y contar cuántos fraudes encuentra y cuántas falsas alarmas da. Al final, ustedes deciden con números en la mano, no con promesas.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JIMENA (12:00). No les vamos a vender humo. FraudeLink lo probamos con información de prueba, así que todavía no sabemos cuánta plata exacta les ayudaría a salvar. Y ojo: que varias personas compartan un celular no siempre es fraude, puede ser una familia. Por eso FraudeLink no acusa a nadie; le dice a su equipo dónde mirar primero, y la última palabra la tiene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JIMENA. Aquí viene lo bueno: para empezar, cero colones en licencias, porque la herramienta es gratis. Se instala en una computadora en un rato, y las contraseñas quedan guardadas aparte, protegidas. Si algún día el mapa crece a millones de cuentas, existe una versión pagada para empresas grandes. Pero esa inversión se hace solo cuando FraudeLink ya les haya demostrado que se paga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LAURA. El fraude se esconde en las conexiones. Nosotros se las ponemos a la vista. Muchas gracias; con mucho gusto respondemos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ALEX Y CAMILA (6:00 – 10:30). Uno habla y el otro maneja la compu.</a:t>
            </a:r>
          </a:p>
          <a:p>
            <a:r>
              <a:t>1. Todo en un mapa: esquema y conteo. «Esto es todo: personas, cuentas, celulares, internet y comercios.»</a:t>
            </a:r>
          </a:p>
          <a:p>
            <a:r>
              <a:t>2. Consulta 2a. «Este celular lo usan 14 personas distintas. Una familia normal son unas 4.»</a:t>
            </a:r>
          </a:p>
          <a:p>
            <a:r>
              <a:t>3. Consultas 3a y 3b. «La plata sale, pasa por otras dos y vuelve. Cada envío solo se ve inocente.»</a:t>
            </a:r>
          </a:p>
          <a:p>
            <a:r>
              <a:t>4. Consulta 6a. «Estas dos cuentas nunca se mandaron plata, pero pasó por estas dos de en medio.»</a:t>
            </a:r>
          </a:p>
          <a:p>
            <a:r>
              <a:t>5. Consulta 7 y su vista de grafo. «De 5 000 cuentas, solo 5 necesitan atención ya.»</a:t>
            </a:r>
          </a:p>
          <a:p>
            <a:r>
              <a:t>Plan B: si algo falla, pasar directo al video o a las capturas, sin perder tiempo arreglando.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LAURA (14:00). Volvamos a la pregunta del inicio: ¿cuánta plata se les está yendo sin que nadie se dé cuenta? Hoy no lo saben, porque ese grupo de veinte cuentas es invisible. Con FraudeLink lo ven: ven el círculo, ven el celular que comparten, ven quién hace de puente y saben exactamente por dónde empezar. Y cuando los estafadores cambien de truco, ustedes cambian con ellos, el mismo día. Empezar no les cuesta licencias. Seguir sin verlo, sí les cuesta, todos los días.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texture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PROPUESTA DE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01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FRAUDELINK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Hagamos visibles las conexiones.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6675120" cy="1463040"/>
          </a:xfrm>
          <a:prstGeom prst="roundRect">
            <a:avLst>
              <a:gd name="adj" fmla="val 16000"/>
            </a:avLst>
          </a:prstGeom>
          <a:solidFill>
            <a:srgbClr val="0B2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6309360" cy="1463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2900" b="1">
                <a:solidFill>
                  <a:srgbClr val="F5FAFF"/>
                </a:solidFill>
                <a:latin typeface="Aptos"/>
              </a:defRPr>
            </a:pPr>
            <a:r>
              <a:rPr sz="2400"/>
              <a:t>¿CUÁNTA PLATA SE LES ESTÁ</a:t>
            </a:r>
          </a:p>
          <a:p>
            <a:pPr>
              <a:spcAft>
                <a:spcPts val="400"/>
              </a:spcAft>
              <a:defRPr sz="2900" b="1">
                <a:solidFill>
                  <a:srgbClr val="F5FAFF"/>
                </a:solidFill>
                <a:latin typeface="Aptos"/>
              </a:defRPr>
            </a:pPr>
            <a:r>
              <a:rPr sz="2400"/>
              <a:t>YENDO HOY SIN QUE NADIE LO VEA?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412480" y="1828800"/>
            <a:ext cx="1280160" cy="36576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92640" y="1828800"/>
            <a:ext cx="1005840" cy="91440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412480" y="2194560"/>
            <a:ext cx="731520" cy="128016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44000" y="3474720"/>
            <a:ext cx="1645920" cy="77724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955279" y="3474720"/>
            <a:ext cx="1188721" cy="82296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784080" y="4251960"/>
            <a:ext cx="1005840" cy="68580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98480" y="2743200"/>
            <a:ext cx="91440" cy="150876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955279" y="4297680"/>
            <a:ext cx="1828801" cy="64008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284463" y="2066543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371331" y="215341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564624" y="1700784"/>
            <a:ext cx="256032" cy="256032"/>
          </a:xfrm>
          <a:prstGeom prst="ellipse">
            <a:avLst/>
          </a:prstGeom>
          <a:solidFill>
            <a:srgbClr val="F26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51492" y="178765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70463" y="2615184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657332" y="270205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015984" y="3346703"/>
            <a:ext cx="256032" cy="256032"/>
          </a:xfrm>
          <a:prstGeom prst="ellipse">
            <a:avLst/>
          </a:prstGeom>
          <a:solidFill>
            <a:srgbClr val="FFB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02852" y="343357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661904" y="4123944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748772" y="421081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827263" y="4169664"/>
            <a:ext cx="256032" cy="256032"/>
          </a:xfrm>
          <a:prstGeom prst="ellipse">
            <a:avLst/>
          </a:prstGeom>
          <a:solidFill>
            <a:srgbClr val="F26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914131" y="425653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656063" y="4809744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9742932" y="489661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4937760"/>
            <a:ext cx="2743200" cy="320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0D6E7"/>
                </a:solidFill>
                <a:latin typeface="Aptos"/>
              </a:defRPr>
            </a:pPr>
            <a:r>
              <a:t>Equipo de proyecto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321808"/>
            <a:ext cx="10607040" cy="102412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F5FAFF"/>
                </a:solidFill>
                <a:latin typeface="Aptos"/>
              </a:defRPr>
            </a:pPr>
            <a:r>
              <a:t>Laura Obando Esquivel · Camila Mendoza Ramírez · Jimena Ramírez Zamora · Alex Díaz Sancho · Fabián Almirall Marchena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023360"/>
            <a:ext cx="640080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0" i="1">
                <a:solidFill>
                  <a:srgbClr val="20D6E7"/>
                </a:solidFill>
                <a:latin typeface="Aptos"/>
              </a:rPr>
              <a:t>FraudeLink les ayuda a encontrarla antes de que se pierda.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textur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02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Cada movimiento se ve normal. El grupo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Imagínense este caso en su plataforma: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331720"/>
            <a:ext cx="3246120" cy="29260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119" y="2606040"/>
            <a:ext cx="731520" cy="73152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CreditCard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78892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74519" y="2542032"/>
            <a:ext cx="1828800" cy="9144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5400" b="1" i="0">
                <a:solidFill>
                  <a:srgbClr val="20D6E7"/>
                </a:solidFill>
                <a:latin typeface="Apto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19" y="3703320"/>
            <a:ext cx="2651760" cy="12801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0" i="0">
                <a:solidFill>
                  <a:srgbClr val="F5FAFF"/>
                </a:solidFill>
                <a:latin typeface="Aptos"/>
              </a:rPr>
              <a:t>cuentas abiertas con nombres distintos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950208" y="3639312"/>
            <a:ext cx="411480" cy="292608"/>
          </a:xfrm>
          <a:prstGeom prst="rightArrow">
            <a:avLst/>
          </a:prstGeom>
          <a:solidFill>
            <a:srgbClr val="31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34840" y="2331720"/>
            <a:ext cx="3246120" cy="29260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54880" y="2606040"/>
            <a:ext cx="731520" cy="73152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aMobileScree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2788920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669280" y="2542032"/>
            <a:ext cx="1828800" cy="9144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5400" b="1" i="0">
                <a:solidFill>
                  <a:srgbClr val="F263A5"/>
                </a:solidFill>
                <a:latin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3703320"/>
            <a:ext cx="2651760" cy="12801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0" i="0">
                <a:solidFill>
                  <a:srgbClr val="F5FAFF"/>
                </a:solidFill>
                <a:latin typeface="Aptos"/>
              </a:rPr>
              <a:t>celulares desde donde se manejan todas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744968" y="3639312"/>
            <a:ext cx="411480" cy="292608"/>
          </a:xfrm>
          <a:prstGeom prst="rightArrow">
            <a:avLst/>
          </a:prstGeom>
          <a:solidFill>
            <a:srgbClr val="31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29600" y="2331720"/>
            <a:ext cx="3246120" cy="29260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549640" y="2606040"/>
            <a:ext cx="731520" cy="73152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aArrowsRotate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2788920"/>
            <a:ext cx="365760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464040" y="2542032"/>
            <a:ext cx="1828800" cy="9144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5400" b="1" i="0">
                <a:solidFill>
                  <a:srgbClr val="FFBF66"/>
                </a:solidFill>
                <a:latin typeface="Aptos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703320"/>
            <a:ext cx="2651760" cy="12801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0" i="0">
                <a:solidFill>
                  <a:srgbClr val="F5FAFF"/>
                </a:solidFill>
                <a:latin typeface="Aptos"/>
              </a:rPr>
              <a:t>círculo de transferencias para esconder de dónde viene la plata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700" b="0" i="0">
                <a:solidFill>
                  <a:srgbClr val="AFC3D6"/>
                </a:solidFill>
                <a:latin typeface="Aptos"/>
              </a:rPr>
              <a:t>Vistas una por una, todas las transferencias se ven inocentes. </a:t>
            </a:r>
            <a:r>
              <a:rPr sz="1700" b="1" i="0">
                <a:solidFill>
                  <a:srgbClr val="F5FAFF"/>
                </a:solidFill>
                <a:latin typeface="Aptos"/>
              </a:rPr>
              <a:t>Nadie levanta la mano.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5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textur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EL COSTO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03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¿Y quién paga eso? Ustedes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Mientras el grupo completo no se vea, el fraude sale caro todos los días.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286000"/>
            <a:ext cx="10881360" cy="1115568"/>
          </a:xfrm>
          <a:prstGeom prst="roundRect">
            <a:avLst>
              <a:gd name="adj" fmla="val 2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2468879"/>
            <a:ext cx="749808" cy="74980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SackDollar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995" y="2656332"/>
            <a:ext cx="374904" cy="3749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965960" y="2468880"/>
            <a:ext cx="4206240" cy="77724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2100" b="1" i="0">
                <a:solidFill>
                  <a:srgbClr val="FFBF66"/>
                </a:solidFill>
                <a:latin typeface="Aptos"/>
              </a:rPr>
              <a:t>La plata que no vuelve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468880"/>
            <a:ext cx="5029200" cy="77724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AFF"/>
                </a:solidFill>
                <a:latin typeface="Aptos"/>
              </a:rPr>
              <a:t>Cada colón que se va en un fraude se pierde.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584448"/>
            <a:ext cx="10881360" cy="1115568"/>
          </a:xfrm>
          <a:prstGeom prst="roundRect">
            <a:avLst>
              <a:gd name="adj" fmla="val 2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" y="3767328"/>
            <a:ext cx="749808" cy="74980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Clock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5" y="3954780"/>
            <a:ext cx="374904" cy="37490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960" y="3767328"/>
            <a:ext cx="4206240" cy="77724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2100" b="1" i="0">
                <a:solidFill>
                  <a:srgbClr val="20D6E7"/>
                </a:solidFill>
                <a:latin typeface="Aptos"/>
              </a:rPr>
              <a:t>Las horas de su equipo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767328"/>
            <a:ext cx="5029200" cy="77724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AFF"/>
                </a:solidFill>
                <a:latin typeface="Aptos"/>
              </a:rPr>
              <a:t>Revisando cuenta por cuenta, sin saber por dónde empezar.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882896"/>
            <a:ext cx="10881360" cy="1115568"/>
          </a:xfrm>
          <a:prstGeom prst="roundRect">
            <a:avLst>
              <a:gd name="adj" fmla="val 2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3544" y="5065776"/>
            <a:ext cx="749808" cy="74980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aUserX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995" y="5253228"/>
            <a:ext cx="374904" cy="3749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965960" y="5065776"/>
            <a:ext cx="4206240" cy="77724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2100" b="1" i="0">
                <a:solidFill>
                  <a:srgbClr val="F263A5"/>
                </a:solidFill>
                <a:latin typeface="Aptos"/>
              </a:rPr>
              <a:t>Los clientes y el nombre de la empresa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065776"/>
            <a:ext cx="5029200" cy="77724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AFF"/>
                </a:solidFill>
                <a:latin typeface="Aptos"/>
              </a:rPr>
              <a:t>Los clientes honestos se van cuando sienten que su dinero no está seguro.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textur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LA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04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Un solo mapa para ver al grupo completo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Quién tiene qué cuenta, desde qué celular se conecta y a quién le manda plata.</a:t>
            </a:r>
          </a:p>
        </p:txBody>
      </p:sp>
      <p:sp>
        <p:nvSpPr>
          <p:cNvPr id="21" name="Oval 20"/>
          <p:cNvSpPr/>
          <p:nvPr/>
        </p:nvSpPr>
        <p:spPr>
          <a:xfrm>
            <a:off x="694943" y="2404872"/>
            <a:ext cx="713232" cy="713232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Ey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1" y="2583180"/>
            <a:ext cx="356616" cy="3566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5920" y="2395728"/>
            <a:ext cx="475488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AFF"/>
                </a:solidFill>
                <a:latin typeface="Aptos"/>
              </a:rPr>
              <a:t>Ver de un vistazo</a:t>
            </a:r>
          </a:p>
          <a:p>
            <a:pPr algn="l"/>
            <a:r>
              <a:rPr sz="1600" b="0" i="0">
                <a:solidFill>
                  <a:srgbClr val="AFC3D6"/>
                </a:solidFill>
                <a:latin typeface="Aptos"/>
              </a:rPr>
              <a:t>quién está conectado con quién.</a:t>
            </a:r>
          </a:p>
        </p:txBody>
      </p:sp>
      <p:sp>
        <p:nvSpPr>
          <p:cNvPr id="24" name="Oval 23"/>
          <p:cNvSpPr/>
          <p:nvPr/>
        </p:nvSpPr>
        <p:spPr>
          <a:xfrm>
            <a:off x="694943" y="3483864"/>
            <a:ext cx="713232" cy="713232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Rout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1" y="3662172"/>
            <a:ext cx="356616" cy="35661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45920" y="3474720"/>
            <a:ext cx="475488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AFF"/>
                </a:solidFill>
                <a:latin typeface="Aptos"/>
              </a:rPr>
              <a:t>Explicar con pelos y señales</a:t>
            </a:r>
          </a:p>
          <a:p>
            <a:pPr algn="l"/>
            <a:r>
              <a:rPr sz="1600" b="0" i="0">
                <a:solidFill>
                  <a:srgbClr val="AFC3D6"/>
                </a:solidFill>
                <a:latin typeface="Aptos"/>
              </a:rPr>
              <a:t>por qué una cuenta es sospechosa.</a:t>
            </a:r>
          </a:p>
        </p:txBody>
      </p:sp>
      <p:sp>
        <p:nvSpPr>
          <p:cNvPr id="27" name="Oval 26"/>
          <p:cNvSpPr/>
          <p:nvPr/>
        </p:nvSpPr>
        <p:spPr>
          <a:xfrm>
            <a:off x="694943" y="4562856"/>
            <a:ext cx="713232" cy="713232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aListOl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1" y="4741164"/>
            <a:ext cx="356616" cy="3566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45920" y="4553712"/>
            <a:ext cx="475488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AFF"/>
                </a:solidFill>
                <a:latin typeface="Aptos"/>
              </a:rPr>
              <a:t>Saber por dónde empezar</a:t>
            </a:r>
          </a:p>
          <a:p>
            <a:pPr algn="l"/>
            <a:r>
              <a:rPr sz="1600" b="0" i="0">
                <a:solidFill>
                  <a:srgbClr val="AFC3D6"/>
                </a:solidFill>
                <a:latin typeface="Aptos"/>
              </a:rPr>
              <a:t>y dejar de perder tiempo.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2240280"/>
            <a:ext cx="4617720" cy="3429000"/>
          </a:xfrm>
          <a:prstGeom prst="roundRect">
            <a:avLst>
              <a:gd name="adj" fmla="val 1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423160"/>
            <a:ext cx="4069080" cy="320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200" b="1" i="0">
                <a:solidFill>
                  <a:srgbClr val="AFC3D6"/>
                </a:solidFill>
                <a:latin typeface="Aptos"/>
              </a:rPr>
              <a:t>DE TODAS SUS CUENTAS…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697480"/>
            <a:ext cx="219456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4400" b="1" i="0">
                <a:solidFill>
                  <a:srgbClr val="AFC3D6"/>
                </a:solidFill>
                <a:latin typeface="Aptos"/>
              </a:rPr>
              <a:t>5 000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235440" y="3017520"/>
            <a:ext cx="457200" cy="329184"/>
          </a:xfrm>
          <a:prstGeom prst="rightArrow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514600"/>
            <a:ext cx="155448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7200" b="1" i="0">
                <a:solidFill>
                  <a:srgbClr val="20D6E7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886200"/>
            <a:ext cx="4069080" cy="1463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5FAFF"/>
                </a:solidFill>
                <a:latin typeface="Aptos"/>
              </a:rPr>
              <a:t>…FraudeLink les dice cuáles 5 revisar primero.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BF66"/>
                </a:solidFill>
                <a:latin typeface="Aptos"/>
              </a:rPr>
              <a:t>Menos tiempo buscando, menos plata perdida.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5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textur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POR QUÉ UN MAPA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05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5232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rPr lang="en-US" sz="3400" b="1" dirty="0">
                <a:solidFill>
                  <a:srgbClr val="F5FAFF"/>
                </a:solidFill>
                <a:latin typeface="Aptos"/>
              </a:rPr>
              <a:t>Un mapa, no un montón de hojas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Seguir la plata no debería ser saltar de tabla en tabla.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240280"/>
            <a:ext cx="5029200" cy="36118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2459736"/>
            <a:ext cx="749808" cy="74980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Tab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" y="2647188"/>
            <a:ext cx="374904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83080" y="2606040"/>
            <a:ext cx="35661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000" b="1" i="0">
                <a:solidFill>
                  <a:srgbClr val="F263A5"/>
                </a:solidFill>
                <a:latin typeface="Aptos"/>
              </a:rPr>
              <a:t>HOY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20440"/>
            <a:ext cx="4480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1" i="0">
                <a:solidFill>
                  <a:srgbClr val="F263A5"/>
                </a:solidFill>
                <a:latin typeface="Aptos"/>
              </a:rPr>
              <a:t>✕  </a:t>
            </a:r>
            <a:r>
              <a:rPr sz="1600" b="0" i="0">
                <a:solidFill>
                  <a:srgbClr val="AFC3D6"/>
                </a:solidFill>
                <a:latin typeface="Aptos"/>
              </a:rPr>
              <a:t>Información repartida en hojas separadas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233672"/>
            <a:ext cx="4480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1" i="0">
                <a:solidFill>
                  <a:srgbClr val="F263A5"/>
                </a:solidFill>
                <a:latin typeface="Aptos"/>
              </a:rPr>
              <a:t>✕  </a:t>
            </a:r>
            <a:r>
              <a:rPr sz="1600" b="0" i="0">
                <a:solidFill>
                  <a:srgbClr val="AFC3D6"/>
                </a:solidFill>
                <a:latin typeface="Aptos"/>
              </a:rPr>
              <a:t>Cruzar datos a mano, hoja por hoja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946904"/>
            <a:ext cx="4480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1" i="0">
                <a:solidFill>
                  <a:srgbClr val="F263A5"/>
                </a:solidFill>
                <a:latin typeface="Aptos"/>
              </a:rPr>
              <a:t>✕  </a:t>
            </a:r>
            <a:r>
              <a:rPr sz="1600" b="0" i="0">
                <a:solidFill>
                  <a:srgbClr val="AFC3D6"/>
                </a:solidFill>
                <a:latin typeface="Aptos"/>
              </a:rPr>
              <a:t>Las conexiones se pierden en el camino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06440" y="3840480"/>
            <a:ext cx="548640" cy="411480"/>
          </a:xfrm>
          <a:prstGeom prst="rightArrow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92240" y="2240280"/>
            <a:ext cx="5029200" cy="36118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 w="15875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11696" y="2459736"/>
            <a:ext cx="749808" cy="74980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aCircleNodes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148" y="2647188"/>
            <a:ext cx="374904" cy="37490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35240" y="2606040"/>
            <a:ext cx="35661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000" b="1" i="0">
                <a:solidFill>
                  <a:srgbClr val="20D6E7"/>
                </a:solidFill>
                <a:latin typeface="Aptos"/>
              </a:rPr>
              <a:t>CON FRAUDELINK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520440"/>
            <a:ext cx="4480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1" i="0">
                <a:solidFill>
                  <a:srgbClr val="20D6E7"/>
                </a:solidFill>
                <a:latin typeface="Aptos"/>
              </a:rPr>
              <a:t>✓  </a:t>
            </a:r>
            <a:r>
              <a:rPr sz="1600" b="0" i="0">
                <a:solidFill>
                  <a:srgbClr val="F5FAFF"/>
                </a:solidFill>
                <a:latin typeface="Aptos"/>
              </a:rPr>
              <a:t>Todo en un solo mapa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233672"/>
            <a:ext cx="4480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1" i="0">
                <a:solidFill>
                  <a:srgbClr val="20D6E7"/>
                </a:solidFill>
                <a:latin typeface="Aptos"/>
              </a:rPr>
              <a:t>✓  </a:t>
            </a:r>
            <a:r>
              <a:rPr sz="1600" b="0" i="0">
                <a:solidFill>
                  <a:srgbClr val="F5FAFF"/>
                </a:solidFill>
                <a:latin typeface="Aptos"/>
              </a:rPr>
              <a:t>Para seguir la plata, se sigue la raya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4946904"/>
            <a:ext cx="4480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1" i="0">
                <a:solidFill>
                  <a:srgbClr val="20D6E7"/>
                </a:solidFill>
                <a:latin typeface="Aptos"/>
              </a:rPr>
              <a:t>✓  </a:t>
            </a:r>
            <a:r>
              <a:rPr sz="1600" b="0" i="0">
                <a:solidFill>
                  <a:srgbClr val="F5FAFF"/>
                </a:solidFill>
                <a:latin typeface="Aptos"/>
              </a:rPr>
              <a:t>Las conexiones saltan a la vista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textur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LO QUE LES AHORRA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06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5232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rPr lang="en-US" sz="3400" b="1" dirty="0" err="1">
                <a:solidFill>
                  <a:srgbClr val="F5FAFF"/>
                </a:solidFill>
                <a:latin typeface="Aptos"/>
              </a:rPr>
              <a:t>Reaccionar el mismo día, no al mes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0881360" cy="24622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rPr lang="en-US" sz="1600" dirty="0" err="1">
                <a:solidFill>
                  <a:srgbClr val="AFC3D6"/>
                </a:solidFill>
                <a:latin typeface="Aptos"/>
              </a:rPr>
              <a:t>Los estafadores cambian de truco todo el tiempo. Su equipo tiene que poder seguirles el paso.</a:t>
            </a:r>
            <a:endParaRPr dirty="0"/>
          </a:p>
        </p:txBody>
      </p:sp>
      <p:sp>
        <p:nvSpPr>
          <p:cNvPr id="30" name="Rounded Rectangle 29"/>
          <p:cNvSpPr/>
          <p:nvPr/>
        </p:nvSpPr>
        <p:spPr>
          <a:xfrm>
            <a:off x="640080" y="2240280"/>
            <a:ext cx="5257800" cy="251460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2423160"/>
            <a:ext cx="47548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1" i="0">
                <a:solidFill>
                  <a:srgbClr val="AFC3D6"/>
                </a:solidFill>
                <a:latin typeface="Aptos"/>
              </a:rPr>
              <a:t>EL SISTEMA DE SIEMPRE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2743200"/>
            <a:ext cx="173736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6600" b="1" i="0">
                <a:solidFill>
                  <a:srgbClr val="F263A5"/>
                </a:solidFill>
                <a:latin typeface="Aptos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2926080"/>
            <a:ext cx="3200400" cy="11887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AFF"/>
                </a:solidFill>
                <a:latin typeface="Aptos"/>
              </a:rPr>
              <a:t>cruces de tablas para calcular el riesgo de una sola cuenta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069080"/>
            <a:ext cx="4754880" cy="5486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0" i="1">
                <a:solidFill>
                  <a:srgbClr val="AFC3D6"/>
                </a:solidFill>
                <a:latin typeface="Aptos"/>
              </a:rPr>
              <a:t>Cada truco nuevo es una búsqueda nueva desde cero.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2240280"/>
            <a:ext cx="5257800" cy="251460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 w="15875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423160"/>
            <a:ext cx="47548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1" i="0">
                <a:solidFill>
                  <a:srgbClr val="FFBF66"/>
                </a:solidFill>
                <a:latin typeface="Aptos"/>
              </a:rPr>
              <a:t>CON FRAUDELINK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2880360"/>
            <a:ext cx="4754880" cy="7315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4000" b="1" i="0">
                <a:solidFill>
                  <a:srgbClr val="AFC3D6"/>
                </a:solidFill>
                <a:latin typeface="Aptos"/>
              </a:rPr>
              <a:t>3..4</a:t>
            </a:r>
            <a:r>
              <a:rPr sz="4000" b="1" i="0">
                <a:solidFill>
                  <a:srgbClr val="FFBF66"/>
                </a:solidFill>
                <a:latin typeface="Aptos"/>
              </a:rPr>
              <a:t>  →  </a:t>
            </a:r>
            <a:r>
              <a:rPr sz="4000" b="1" i="0">
                <a:solidFill>
                  <a:srgbClr val="FFBF66"/>
                </a:solidFill>
                <a:latin typeface="Aptos"/>
              </a:rPr>
              <a:t>3..5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703320"/>
            <a:ext cx="475488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AFF"/>
                </a:solidFill>
                <a:latin typeface="Aptos"/>
              </a:rPr>
              <a:t>Se cambia un detalle y la búsqueda completa se adapta.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4983480"/>
            <a:ext cx="10881360" cy="914400"/>
          </a:xfrm>
          <a:prstGeom prst="roundRect">
            <a:avLst>
              <a:gd name="adj" fmla="val 25000"/>
            </a:avLst>
          </a:prstGeom>
          <a:solidFill>
            <a:srgbClr val="12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05256" y="5157216"/>
            <a:ext cx="566928" cy="56692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Bolt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" y="5298948"/>
            <a:ext cx="283464" cy="28346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91640" y="5120640"/>
            <a:ext cx="9601200" cy="6400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0D6E7"/>
                </a:solidFill>
                <a:latin typeface="Aptos"/>
              </a:rPr>
              <a:t>Construido con Neo4j</a:t>
            </a:r>
            <a:r>
              <a:rPr sz="1600" b="0" i="0">
                <a:solidFill>
                  <a:srgbClr val="F5FAFF"/>
                </a:solidFill>
                <a:latin typeface="Aptos"/>
              </a:rPr>
              <a:t>, la herramienta más usada en el mundo para mapas de conexiones. </a:t>
            </a:r>
            <a:r>
              <a:rPr sz="1600" b="1" i="0">
                <a:solidFill>
                  <a:srgbClr val="FFBF66"/>
                </a:solidFill>
                <a:latin typeface="Aptos"/>
              </a:rPr>
              <a:t>Y es gratis.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extur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CÓMO SE 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07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Cinco piezas, una sola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Así se ve su información dentro de FraudeLink.</a:t>
            </a: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6D7D7438-9221-FEFB-8900-D7934747D5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2057400"/>
            <a:ext cx="4475747" cy="425196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349240" y="2240280"/>
            <a:ext cx="1993392" cy="685800"/>
          </a:xfrm>
          <a:prstGeom prst="roundRect">
            <a:avLst>
              <a:gd name="adj" fmla="val 35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86400" y="2354580"/>
            <a:ext cx="457200" cy="4572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aUser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700" y="2468880"/>
            <a:ext cx="228600" cy="2286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025896" y="2423160"/>
            <a:ext cx="1298448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AFF"/>
                </a:solidFill>
                <a:latin typeface="Aptos"/>
              </a:rPr>
              <a:t>Personas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34071" y="2240280"/>
            <a:ext cx="1993392" cy="685800"/>
          </a:xfrm>
          <a:prstGeom prst="roundRect">
            <a:avLst>
              <a:gd name="adj" fmla="val 35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1231" y="2354580"/>
            <a:ext cx="457200" cy="4572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CreditCard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5531" y="2468880"/>
            <a:ext cx="228600" cy="228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110727" y="2423160"/>
            <a:ext cx="1298448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AFF"/>
                </a:solidFill>
                <a:latin typeface="Aptos"/>
              </a:rPr>
              <a:t>Cuentas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18904" y="2240280"/>
            <a:ext cx="1993392" cy="685800"/>
          </a:xfrm>
          <a:prstGeom prst="roundRect">
            <a:avLst>
              <a:gd name="adj" fmla="val 35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656064" y="2354580"/>
            <a:ext cx="457200" cy="4572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aMobileScreen_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0364" y="246888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195560" y="2423160"/>
            <a:ext cx="1298448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AFF"/>
                </a:solidFill>
                <a:latin typeface="Aptos"/>
              </a:rPr>
              <a:t>Celulares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49240" y="3108960"/>
            <a:ext cx="1993392" cy="685800"/>
          </a:xfrm>
          <a:prstGeom prst="roundRect">
            <a:avLst>
              <a:gd name="adj" fmla="val 35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486400" y="3223260"/>
            <a:ext cx="457200" cy="4572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FaWifi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3337560"/>
            <a:ext cx="228600" cy="2286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25896" y="3291840"/>
            <a:ext cx="1298448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AFF"/>
                </a:solidFill>
                <a:latin typeface="Aptos"/>
              </a:rPr>
              <a:t>Internet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34071" y="3108960"/>
            <a:ext cx="1993392" cy="685800"/>
          </a:xfrm>
          <a:prstGeom prst="roundRect">
            <a:avLst>
              <a:gd name="adj" fmla="val 35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571231" y="3223260"/>
            <a:ext cx="457200" cy="4572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aStor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5531" y="3337560"/>
            <a:ext cx="228600" cy="228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110727" y="3291840"/>
            <a:ext cx="1298448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AFF"/>
                </a:solidFill>
                <a:latin typeface="Aptos"/>
              </a:rPr>
              <a:t>Comercios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349240" y="4114800"/>
            <a:ext cx="6172200" cy="1143000"/>
          </a:xfrm>
          <a:prstGeom prst="roundRect">
            <a:avLst>
              <a:gd name="adj" fmla="val 18000"/>
            </a:avLst>
          </a:prstGeom>
          <a:solidFill>
            <a:srgbClr val="0B203B"/>
          </a:solidFill>
          <a:ln w="15875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224528"/>
            <a:ext cx="5669280" cy="9601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BF66"/>
                </a:solidFill>
                <a:latin typeface="Aptos"/>
              </a:rPr>
              <a:t>9 personas, 1 celular. </a:t>
            </a:r>
            <a:r>
              <a:rPr sz="1600" b="0" i="0">
                <a:solidFill>
                  <a:srgbClr val="F5FAFF"/>
                </a:solidFill>
                <a:latin typeface="Aptos"/>
              </a:rPr>
              <a:t>En una tabla nadie lo nota; en el mapa, nueve rayas llegan al mismo punto.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9240" y="5440680"/>
            <a:ext cx="617220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800" b="1" i="0">
                <a:solidFill>
                  <a:srgbClr val="20D6E7"/>
                </a:solidFill>
                <a:latin typeface="Aptos"/>
              </a:rPr>
              <a:t>12 500</a:t>
            </a:r>
            <a:r>
              <a:rPr sz="1800" b="0" i="0">
                <a:solidFill>
                  <a:srgbClr val="AFC3D6"/>
                </a:solidFill>
                <a:latin typeface="Aptos"/>
              </a:rPr>
              <a:t> puntos   ·   </a:t>
            </a:r>
            <a:r>
              <a:rPr sz="1800" b="1" i="0">
                <a:solidFill>
                  <a:srgbClr val="F263A5"/>
                </a:solidFill>
                <a:latin typeface="Aptos"/>
              </a:rPr>
              <a:t>66 007</a:t>
            </a:r>
            <a:r>
              <a:rPr sz="1800" b="0" i="0">
                <a:solidFill>
                  <a:srgbClr val="AFC3D6"/>
                </a:solidFill>
                <a:latin typeface="Aptos"/>
              </a:rPr>
              <a:t> conexiones probadas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5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4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75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10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45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extur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LO PUSIMOS A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08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Lo pusimos a prueba antes de venir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Escondimos dos círculos de plata entre 30 000 transferencias normales.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920240" y="2377440"/>
            <a:ext cx="2194560" cy="36576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154680" y="2377440"/>
            <a:ext cx="960120" cy="201168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920240" y="2743200"/>
            <a:ext cx="1234440" cy="164592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792224" y="2615184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879092" y="270205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986784" y="2249424"/>
            <a:ext cx="256032" cy="256032"/>
          </a:xfrm>
          <a:prstGeom prst="ellipse">
            <a:avLst/>
          </a:prstGeom>
          <a:solidFill>
            <a:srgbClr val="F26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073652" y="233629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026664" y="4261104"/>
            <a:ext cx="256032" cy="256032"/>
          </a:xfrm>
          <a:prstGeom prst="ellipse">
            <a:avLst/>
          </a:prstGeom>
          <a:solidFill>
            <a:srgbClr val="FFB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113532" y="434797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V="1">
            <a:off x="7315200" y="2286000"/>
            <a:ext cx="1828800" cy="13716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144000" y="2286000"/>
            <a:ext cx="1005840" cy="1463039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818120" y="3749039"/>
            <a:ext cx="2331720" cy="731521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7315200" y="2423160"/>
            <a:ext cx="502920" cy="2057400"/>
          </a:xfrm>
          <a:prstGeom prst="line">
            <a:avLst/>
          </a:prstGeom>
          <a:ln w="25400">
            <a:solidFill>
              <a:srgbClr val="2D78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187184" y="2295144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274052" y="238201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015984" y="2157984"/>
            <a:ext cx="256032" cy="256032"/>
          </a:xfrm>
          <a:prstGeom prst="ellipse">
            <a:avLst/>
          </a:prstGeom>
          <a:solidFill>
            <a:srgbClr val="F26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102852" y="224485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021824" y="3621023"/>
            <a:ext cx="256032" cy="256032"/>
          </a:xfrm>
          <a:prstGeom prst="ellipse">
            <a:avLst/>
          </a:prstGeom>
          <a:solidFill>
            <a:srgbClr val="FFB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108692" y="3707891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690104" y="4352544"/>
            <a:ext cx="256032" cy="256032"/>
          </a:xfrm>
          <a:prstGeom prst="ellipse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776972" y="4439412"/>
            <a:ext cx="82296" cy="82296"/>
          </a:xfrm>
          <a:prstGeom prst="ellipse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FaCircleCheck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946904"/>
            <a:ext cx="384048" cy="38404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63040" y="4983480"/>
            <a:ext cx="38404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AFF"/>
                </a:solidFill>
                <a:latin typeface="Aptos"/>
              </a:rPr>
              <a:t>CÍRCULO DE 3 CUENTAS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30952"/>
            <a:ext cx="3840480" cy="320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0" i="1">
                <a:solidFill>
                  <a:srgbClr val="20D6E7"/>
                </a:solidFill>
                <a:latin typeface="Aptos"/>
              </a:rPr>
              <a:t>Encontrado</a:t>
            </a:r>
          </a:p>
        </p:txBody>
      </p:sp>
      <p:pic>
        <p:nvPicPr>
          <p:cNvPr id="37" name="Picture 36" descr="FaCircleCheck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946904"/>
            <a:ext cx="384048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79" y="4983480"/>
            <a:ext cx="38404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AFF"/>
                </a:solidFill>
                <a:latin typeface="Aptos"/>
              </a:rPr>
              <a:t>CÍRCULO DE 4 CUENTAS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79" y="5330952"/>
            <a:ext cx="3840480" cy="320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0" i="1">
                <a:solidFill>
                  <a:srgbClr val="20D6E7"/>
                </a:solidFill>
                <a:latin typeface="Aptos"/>
              </a:rPr>
              <a:t>Encontrado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FC3D6"/>
                </a:solidFill>
                <a:latin typeface="Aptos"/>
              </a:rPr>
              <a:t>Resultado: </a:t>
            </a:r>
            <a:r>
              <a:rPr sz="1800" b="1" i="0">
                <a:solidFill>
                  <a:srgbClr val="FFBF66"/>
                </a:solidFill>
                <a:latin typeface="Aptos"/>
              </a:rPr>
              <a:t>FraudeLink encontró los dos.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7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40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textur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09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Alarmas que se pueden explicar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FraudeLink no les dice “confíen en mí”: les muestra por qué.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2240280"/>
            <a:ext cx="4846320" cy="169164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5256" y="2459736"/>
            <a:ext cx="658368" cy="65836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Fingerprint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2624328"/>
            <a:ext cx="329184" cy="32918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42032"/>
            <a:ext cx="35661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900" b="1" i="0">
                <a:solidFill>
                  <a:srgbClr val="20D6E7"/>
                </a:solidFill>
                <a:latin typeface="Aptos"/>
              </a:rPr>
              <a:t>Nada repetido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154680"/>
            <a:ext cx="4434840" cy="7315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AFF"/>
                </a:solidFill>
                <a:latin typeface="Aptos"/>
              </a:rPr>
              <a:t>Cada persona, cuenta y celular aparece una sola vez.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14800"/>
            <a:ext cx="4846320" cy="169164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05256" y="4334255"/>
            <a:ext cx="658368" cy="65836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aBellSlash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4498848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37360" y="4416552"/>
            <a:ext cx="35661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900" b="1" i="0">
                <a:solidFill>
                  <a:srgbClr val="F263A5"/>
                </a:solidFill>
                <a:latin typeface="Aptos"/>
              </a:rPr>
              <a:t>No grita por 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029200"/>
            <a:ext cx="4434840" cy="7315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AFF"/>
                </a:solidFill>
                <a:latin typeface="Aptos"/>
              </a:rPr>
              <a:t>Solo avisa cuando la plata se mueve como el lavado: en orden y perdiendo un poquito en cada paso.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0" y="2240280"/>
            <a:ext cx="5760720" cy="36118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395728"/>
            <a:ext cx="53035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1" i="0">
                <a:solidFill>
                  <a:srgbClr val="AFC3D6"/>
                </a:solidFill>
                <a:latin typeface="Aptos"/>
              </a:rPr>
              <a:t>CÓMO SUMA PUNTOS UNA CUENTA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2880360"/>
            <a:ext cx="237744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AFF"/>
                </a:solidFill>
                <a:latin typeface="Aptos"/>
              </a:rPr>
              <a:t>La plata le da vueltas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2953512"/>
            <a:ext cx="2377440" cy="329184"/>
          </a:xfrm>
          <a:prstGeom prst="roundRect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81360" y="2880360"/>
            <a:ext cx="7315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20D6E7"/>
                </a:solidFill>
                <a:latin typeface="Aptos"/>
              </a:rP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538728"/>
            <a:ext cx="237744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AFF"/>
                </a:solidFill>
                <a:latin typeface="Aptos"/>
              </a:rPr>
              <a:t>Comparte celular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58200" y="3611880"/>
            <a:ext cx="1485900" cy="329184"/>
          </a:xfrm>
          <a:prstGeom prst="roundRect">
            <a:avLst/>
          </a:prstGeom>
          <a:solidFill>
            <a:srgbClr val="F26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89820" y="3538728"/>
            <a:ext cx="7315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263A5"/>
                </a:solidFill>
                <a:latin typeface="Aptos"/>
              </a:rPr>
              <a:t>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4197096"/>
            <a:ext cx="237744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AFF"/>
                </a:solidFill>
                <a:latin typeface="Aptos"/>
              </a:rPr>
              <a:t>Montos grandes de golpe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4270248"/>
            <a:ext cx="1188720" cy="329184"/>
          </a:xfrm>
          <a:prstGeom prst="roundRect">
            <a:avLst/>
          </a:prstGeom>
          <a:solidFill>
            <a:srgbClr val="FFB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92640" y="4197096"/>
            <a:ext cx="7315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FBF66"/>
                </a:solidFill>
                <a:latin typeface="Aptos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4855464"/>
            <a:ext cx="237744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AFF"/>
                </a:solidFill>
                <a:latin typeface="Aptos"/>
              </a:rPr>
              <a:t>Comparte 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58200" y="4928616"/>
            <a:ext cx="891540" cy="329184"/>
          </a:xfrm>
          <a:prstGeom prst="roundRect">
            <a:avLst/>
          </a:prstGeom>
          <a:solidFill>
            <a:srgbClr val="F5F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95460" y="4855464"/>
            <a:ext cx="7315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5FAFF"/>
                </a:solidFill>
                <a:latin typeface="Aptos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5486400"/>
            <a:ext cx="5303520" cy="320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1" i="0">
                <a:solidFill>
                  <a:srgbClr val="FFBF66"/>
                </a:solidFill>
                <a:latin typeface="Aptos"/>
              </a:rPr>
              <a:t>60 puntos o más</a:t>
            </a:r>
            <a:r>
              <a:rPr sz="1500" b="0" i="0">
                <a:solidFill>
                  <a:srgbClr val="F5FAFF"/>
                </a:solidFill>
                <a:latin typeface="Aptos"/>
              </a:rPr>
              <a:t> = revisar ya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5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4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75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10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450"/>
                            </p:stCondLst>
                            <p:childTnLst>
                              <p:par>
                                <p:cTn id="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text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DEMOSTRACIÓN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10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Ahora, véanlo funcionando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08761"/>
            <a:ext cx="10881360" cy="24622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rPr lang="en-US" sz="1600" dirty="0" err="1">
                <a:solidFill>
                  <a:srgbClr val="AFC3D6"/>
                </a:solidFill>
                <a:latin typeface="Aptos"/>
              </a:rPr>
              <a:t>Cinco preguntas que su equipo podría hacerse mañana mismo.</a:t>
            </a:r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1508760" y="3136392"/>
            <a:ext cx="9144000" cy="45720"/>
          </a:xfrm>
          <a:prstGeom prst="rect">
            <a:avLst/>
          </a:prstGeom>
          <a:solidFill>
            <a:srgbClr val="31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2697480"/>
            <a:ext cx="914400" cy="9144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CircleNodes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926080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88719" y="2240280"/>
            <a:ext cx="6400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0D6E7"/>
                </a:solidFill>
                <a:latin typeface="Apto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3840480"/>
            <a:ext cx="2194560" cy="6858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5FAFF"/>
                </a:solidFill>
                <a:latin typeface="Aptos"/>
              </a:rPr>
              <a:t>Todo en un mapa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4526280"/>
            <a:ext cx="2194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300" b="0" i="0">
                <a:solidFill>
                  <a:srgbClr val="AFC3D6"/>
                </a:solidFill>
                <a:latin typeface="Aptos"/>
              </a:rPr>
              <a:t>Su negocio en una sola imagen</a:t>
            </a:r>
          </a:p>
        </p:txBody>
      </p:sp>
      <p:sp>
        <p:nvSpPr>
          <p:cNvPr id="25" name="Oval 24"/>
          <p:cNvSpPr/>
          <p:nvPr/>
        </p:nvSpPr>
        <p:spPr>
          <a:xfrm>
            <a:off x="3337560" y="2697480"/>
            <a:ext cx="914400" cy="9144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aMobileScree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926080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474720" y="2240280"/>
            <a:ext cx="6400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63A5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840480"/>
            <a:ext cx="2194560" cy="6858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5FAFF"/>
                </a:solidFill>
                <a:latin typeface="Aptos"/>
              </a:rPr>
              <a:t>Un celular, 14 dueños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4526280"/>
            <a:ext cx="2194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300" b="0" i="0">
                <a:solidFill>
                  <a:srgbClr val="AFC3D6"/>
                </a:solidFill>
                <a:latin typeface="Aptos"/>
              </a:rPr>
              <a:t>Lo normal son unas 4 personas</a:t>
            </a:r>
          </a:p>
        </p:txBody>
      </p:sp>
      <p:sp>
        <p:nvSpPr>
          <p:cNvPr id="30" name="Oval 29"/>
          <p:cNvSpPr/>
          <p:nvPr/>
        </p:nvSpPr>
        <p:spPr>
          <a:xfrm>
            <a:off x="5623560" y="2697480"/>
            <a:ext cx="914400" cy="9144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aArrowsRotate_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2926080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60720" y="2240280"/>
            <a:ext cx="6400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BF66"/>
                </a:solidFill>
                <a:latin typeface="Apto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3840480"/>
            <a:ext cx="2194560" cy="6858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5FAFF"/>
                </a:solidFill>
                <a:latin typeface="Aptos"/>
              </a:rPr>
              <a:t>La plata que da la vuelta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4526280"/>
            <a:ext cx="2194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300" b="0" i="0">
                <a:solidFill>
                  <a:srgbClr val="AFC3D6"/>
                </a:solidFill>
                <a:latin typeface="Aptos"/>
              </a:rPr>
              <a:t>Sale, pasa por otras y vuelve</a:t>
            </a:r>
          </a:p>
        </p:txBody>
      </p:sp>
      <p:sp>
        <p:nvSpPr>
          <p:cNvPr id="35" name="Oval 34"/>
          <p:cNvSpPr/>
          <p:nvPr/>
        </p:nvSpPr>
        <p:spPr>
          <a:xfrm>
            <a:off x="7909560" y="2697480"/>
            <a:ext cx="914400" cy="9144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aRoute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926080"/>
            <a:ext cx="457200" cy="4572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46720" y="2240280"/>
            <a:ext cx="6400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0D6E7"/>
                </a:solidFill>
                <a:latin typeface="Aptos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3840480"/>
            <a:ext cx="2194560" cy="6858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5FAFF"/>
                </a:solidFill>
                <a:latin typeface="Aptos"/>
              </a:rPr>
              <a:t>Los que hacen de puente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526280"/>
            <a:ext cx="2194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300" b="0" i="0">
                <a:solidFill>
                  <a:srgbClr val="AFC3D6"/>
                </a:solidFill>
                <a:latin typeface="Aptos"/>
              </a:rPr>
              <a:t>Las cuentas de en medio</a:t>
            </a:r>
          </a:p>
        </p:txBody>
      </p:sp>
      <p:sp>
        <p:nvSpPr>
          <p:cNvPr id="40" name="Oval 39"/>
          <p:cNvSpPr/>
          <p:nvPr/>
        </p:nvSpPr>
        <p:spPr>
          <a:xfrm>
            <a:off x="10195560" y="2697480"/>
            <a:ext cx="914400" cy="91440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ListO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4160" y="2926080"/>
            <a:ext cx="457200" cy="4572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332720" y="2240280"/>
            <a:ext cx="6400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63A5"/>
                </a:solidFill>
                <a:latin typeface="Aptos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3840480"/>
            <a:ext cx="2194560" cy="6858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5FAFF"/>
                </a:solidFill>
                <a:latin typeface="Aptos"/>
              </a:rPr>
              <a:t>La lista del lunes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4526280"/>
            <a:ext cx="2194560" cy="6400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300" b="0" i="0">
                <a:solidFill>
                  <a:srgbClr val="AFC3D6"/>
                </a:solidFill>
                <a:latin typeface="Aptos"/>
              </a:rPr>
              <a:t>5 de 5 000 cuentas, ya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23360" y="539496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2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aPlay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51959" y="5532120"/>
            <a:ext cx="274320" cy="2743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63440" y="5440680"/>
            <a:ext cx="338328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20D6E7"/>
                </a:solidFill>
                <a:latin typeface="Aptos"/>
              </a:rPr>
              <a:t>Neo4j en vivo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4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5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10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text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11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No se le escapó ninguna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08761"/>
            <a:ext cx="10881360" cy="246221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rPr lang="en-US" sz="1600" dirty="0" err="1">
                <a:solidFill>
                  <a:srgbClr val="AFC3D6"/>
                </a:solidFill>
                <a:latin typeface="Aptos"/>
              </a:rPr>
              <a:t>Lo que acaban de ver no es un truco de presentación.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640080" y="2286000"/>
            <a:ext cx="3429000" cy="274320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2514600"/>
            <a:ext cx="283464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6000" b="1" i="0">
                <a:solidFill>
                  <a:srgbClr val="20D6E7"/>
                </a:solidFill>
                <a:latin typeface="Aptos"/>
              </a:rPr>
              <a:t>2/2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3703320"/>
            <a:ext cx="283464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AFF"/>
                </a:solidFill>
                <a:latin typeface="Aptos"/>
              </a:rPr>
              <a:t>círculos escondidos</a:t>
            </a:r>
          </a:p>
          <a:p>
            <a:pPr algn="l"/>
            <a:r>
              <a:rPr sz="1700" b="0" i="0">
                <a:solidFill>
                  <a:srgbClr val="AFC3D6"/>
                </a:solidFill>
                <a:latin typeface="Aptos"/>
              </a:rPr>
              <a:t>encontrados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286000"/>
            <a:ext cx="3429000" cy="274320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514600"/>
            <a:ext cx="283464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6000" b="1" i="0">
                <a:solidFill>
                  <a:srgbClr val="F263A5"/>
                </a:solidFill>
                <a:latin typeface="Aptos"/>
              </a:rPr>
              <a:t>7/7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703320"/>
            <a:ext cx="283464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AFF"/>
                </a:solidFill>
                <a:latin typeface="Aptos"/>
              </a:rPr>
              <a:t>cuentas de esos círculos</a:t>
            </a:r>
          </a:p>
          <a:p>
            <a:pPr algn="l"/>
            <a:r>
              <a:rPr sz="1700" b="0" i="0">
                <a:solidFill>
                  <a:srgbClr val="AFC3D6"/>
                </a:solidFill>
                <a:latin typeface="Aptos"/>
              </a:rPr>
              <a:t>en el top 20 de riesgo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2286000"/>
            <a:ext cx="3429000" cy="274320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2514600"/>
            <a:ext cx="283464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6000" b="1" i="0">
                <a:solidFill>
                  <a:srgbClr val="FFBF66"/>
                </a:solidFill>
                <a:latin typeface="Apto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703320"/>
            <a:ext cx="2834640" cy="10972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AFF"/>
                </a:solidFill>
                <a:latin typeface="Aptos"/>
              </a:rPr>
              <a:t>cuentas en riesgo alto</a:t>
            </a:r>
          </a:p>
          <a:p>
            <a:pPr algn="l"/>
            <a:r>
              <a:rPr sz="1700" b="0" i="0">
                <a:solidFill>
                  <a:srgbClr val="AFC3D6"/>
                </a:solidFill>
                <a:latin typeface="Aptos"/>
              </a:rPr>
              <a:t>de 5 000 revisadas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600" b="0" i="0">
                <a:solidFill>
                  <a:srgbClr val="AFC3D6"/>
                </a:solidFill>
                <a:latin typeface="Aptos"/>
              </a:rPr>
              <a:t>La cuenta más riesgosa: </a:t>
            </a:r>
            <a:r>
              <a:rPr sz="1600" b="1" i="0">
                <a:solidFill>
                  <a:srgbClr val="F5FAFF"/>
                </a:solidFill>
                <a:latin typeface="Aptos"/>
              </a:rPr>
              <a:t>CTA00013, con 65 puntos</a:t>
            </a:r>
            <a:r>
              <a:rPr sz="1600" b="0" i="0">
                <a:solidFill>
                  <a:srgbClr val="AFC3D6"/>
                </a:solidFill>
                <a:latin typeface="Aptos"/>
              </a:rPr>
              <a:t> — la plata le da vueltas, comparte celular y recibió montos grandes.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texture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RAPIDEZ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12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Rápido justo donde importa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En este negocio, cada hora que se gana es plata que no se va.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240280"/>
            <a:ext cx="4206240" cy="36118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2478024"/>
            <a:ext cx="713232" cy="713232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ock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32" y="2656332"/>
            <a:ext cx="356616" cy="3566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" y="3337560"/>
            <a:ext cx="3657600" cy="10058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6000" b="1" i="0">
                <a:solidFill>
                  <a:srgbClr val="20D6E7"/>
                </a:solidFill>
                <a:latin typeface="Aptos"/>
              </a:rPr>
              <a:t>≈ 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343400"/>
            <a:ext cx="365760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AFF"/>
                </a:solidFill>
                <a:latin typeface="Aptos"/>
              </a:rPr>
              <a:t>para revisar el mapa completo y armar los grupos de cuentas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57800"/>
            <a:ext cx="365760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0" i="1">
                <a:solidFill>
                  <a:srgbClr val="AFC3D6"/>
                </a:solidFill>
                <a:latin typeface="Aptos"/>
              </a:rPr>
              <a:t>Medido 100 veces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0" y="2240280"/>
            <a:ext cx="6400800" cy="36118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2423160"/>
            <a:ext cx="5852160" cy="7772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AFF"/>
                </a:solidFill>
                <a:latin typeface="Aptos"/>
              </a:rPr>
              <a:t>¿Por dónde pasó la plata para llegar de esta cuenta a aquella?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383280"/>
            <a:ext cx="1828800" cy="4114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20D6E7"/>
                </a:solidFill>
                <a:latin typeface="Aptos"/>
              </a:rPr>
              <a:t>FraudeLink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3429000"/>
            <a:ext cx="1669632" cy="347472"/>
          </a:xfrm>
          <a:prstGeom prst="roundRect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30552" y="338328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 i="0">
                <a:solidFill>
                  <a:srgbClr val="20D6E7"/>
                </a:solidFill>
                <a:latin typeface="Aptos"/>
              </a:rPr>
              <a:t>0,5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3977639"/>
            <a:ext cx="1828800" cy="41148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0" i="0">
                <a:solidFill>
                  <a:srgbClr val="AFC3D6"/>
                </a:solidFill>
                <a:latin typeface="Aptos"/>
              </a:rPr>
              <a:t>Sistema de siempre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4023360"/>
            <a:ext cx="3533241" cy="347472"/>
          </a:xfrm>
          <a:prstGeom prst="roundRect">
            <a:avLst/>
          </a:prstGeom>
          <a:solidFill>
            <a:srgbClr val="31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462272"/>
            <a:ext cx="356616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500" b="1" i="0">
                <a:solidFill>
                  <a:srgbClr val="AFC3D6"/>
                </a:solidFill>
                <a:latin typeface="Aptos"/>
              </a:rPr>
              <a:t>1,2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4892040"/>
            <a:ext cx="585216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1" i="0">
                <a:solidFill>
                  <a:srgbClr val="FFBF66"/>
                </a:solidFill>
                <a:latin typeface="Aptos"/>
              </a:rPr>
              <a:t>Más del doble de rápido</a:t>
            </a:r>
            <a:r>
              <a:rPr sz="1500" b="0" i="0">
                <a:solidFill>
                  <a:srgbClr val="F5FAFF"/>
                </a:solidFill>
                <a:latin typeface="Aptos"/>
              </a:rPr>
              <a:t> en la pregunta que más pesa conforme la empresa crece.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4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textur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LO QUE FALTA 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13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No les vamos a vender humo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Esto es lo que todavía hay que comprobar con sus propios datos.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286000"/>
            <a:ext cx="3429000" cy="329184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7259" y="2583180"/>
            <a:ext cx="777240" cy="77724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Flask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570" y="2777490"/>
            <a:ext cx="388620" cy="3886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19" y="3657600"/>
            <a:ext cx="283464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900" b="1" i="0">
                <a:solidFill>
                  <a:srgbClr val="20D6E7"/>
                </a:solidFill>
                <a:latin typeface="Aptos"/>
              </a:rPr>
              <a:t>Datos de prueba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19" y="4434840"/>
            <a:ext cx="2834640" cy="10515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AFF"/>
                </a:solidFill>
                <a:latin typeface="Aptos"/>
              </a:rPr>
              <a:t>Todavía no sabemos cuánta plata exacta les ayudaría a salvar.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2286000"/>
            <a:ext cx="3429000" cy="329184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40580" y="2583180"/>
            <a:ext cx="777240" cy="77724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ScaleBalance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4890" y="2777490"/>
            <a:ext cx="388620" cy="3886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63440" y="3657600"/>
            <a:ext cx="283464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900" b="1" i="0">
                <a:solidFill>
                  <a:srgbClr val="F263A5"/>
                </a:solidFill>
                <a:latin typeface="Aptos"/>
              </a:rPr>
              <a:t>Una señal no es una acusación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434840"/>
            <a:ext cx="2834640" cy="10515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AFF"/>
                </a:solidFill>
                <a:latin typeface="Aptos"/>
              </a:rPr>
              <a:t>Un celular compartido puede ser una familia.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2286000"/>
            <a:ext cx="3429000" cy="329184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43899" y="2583180"/>
            <a:ext cx="777240" cy="77724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aPeopleGroup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8209" y="2777490"/>
            <a:ext cx="388620" cy="3886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66759" y="3657600"/>
            <a:ext cx="283464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900" b="1" i="0">
                <a:solidFill>
                  <a:srgbClr val="FFBF66"/>
                </a:solidFill>
                <a:latin typeface="Aptos"/>
              </a:rPr>
              <a:t>La última palabra es de una persona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59" y="4434840"/>
            <a:ext cx="2834640" cy="10515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AFF"/>
                </a:solidFill>
                <a:latin typeface="Aptos"/>
              </a:rPr>
              <a:t>FraudeLink no acusa a nadie: le dice a su equipo dónde mirar primero.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texture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LO QUE CUESTA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14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Aquí viene lo bueno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Empezar con FraudeLink no requiere comprar licencias.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240280"/>
            <a:ext cx="4206240" cy="361188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 w="15875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14600"/>
            <a:ext cx="3657600" cy="1463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600" b="1" i="0">
                <a:solidFill>
                  <a:srgbClr val="FFBF66"/>
                </a:solidFill>
                <a:latin typeface="Aptos"/>
              </a:rPr>
              <a:t>₡0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3657600" cy="8229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AFF"/>
                </a:solidFill>
                <a:latin typeface="Aptos"/>
              </a:rPr>
              <a:t>en licencias para empezar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46320"/>
            <a:ext cx="3657600" cy="73152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AFC3D6"/>
                </a:solidFill>
                <a:latin typeface="Aptos"/>
              </a:rPr>
              <a:t>La herramienta es gratuita.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240280"/>
            <a:ext cx="6400800" cy="1097280"/>
          </a:xfrm>
          <a:prstGeom prst="roundRect">
            <a:avLst>
              <a:gd name="adj" fmla="val 2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58383" y="2459736"/>
            <a:ext cx="658368" cy="65836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Terminal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2976" y="2624328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2377440"/>
            <a:ext cx="512064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20D6E7"/>
                </a:solidFill>
                <a:latin typeface="Aptos"/>
              </a:rPr>
              <a:t>Se instala en un rato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724912"/>
            <a:ext cx="5120640" cy="56692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0" i="0">
                <a:solidFill>
                  <a:srgbClr val="AFC3D6"/>
                </a:solidFill>
                <a:latin typeface="Aptos"/>
              </a:rPr>
              <a:t>Un solo comando, en cualquier computadora.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3474720"/>
            <a:ext cx="6400800" cy="1097280"/>
          </a:xfrm>
          <a:prstGeom prst="roundRect">
            <a:avLst>
              <a:gd name="adj" fmla="val 2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58383" y="3694176"/>
            <a:ext cx="658368" cy="65836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aLo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976" y="3858768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3611880"/>
            <a:ext cx="512064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F263A5"/>
                </a:solidFill>
                <a:latin typeface="Aptos"/>
              </a:rPr>
              <a:t>Contraseñas protegidas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959352"/>
            <a:ext cx="5120640" cy="56692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0" i="0">
                <a:solidFill>
                  <a:srgbClr val="AFC3D6"/>
                </a:solidFill>
                <a:latin typeface="Aptos"/>
              </a:rPr>
              <a:t>Guardadas aparte, fuera del sistema.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0" y="4709160"/>
            <a:ext cx="6400800" cy="1097280"/>
          </a:xfrm>
          <a:prstGeom prst="roundRect">
            <a:avLst>
              <a:gd name="adj" fmla="val 2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58383" y="4928616"/>
            <a:ext cx="658368" cy="658368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5F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Serv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976" y="5093208"/>
            <a:ext cx="329184" cy="32918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4846320"/>
            <a:ext cx="512064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AFF"/>
                </a:solidFill>
                <a:latin typeface="Aptos"/>
              </a:rPr>
              <a:t>Crece cuando ustedes decidan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193792"/>
            <a:ext cx="5120640" cy="56692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300" b="0" i="0">
                <a:solidFill>
                  <a:srgbClr val="AFC3D6"/>
                </a:solidFill>
                <a:latin typeface="Aptos"/>
              </a:rPr>
              <a:t>Si el mapa llega a millones de cuentas, hay una versión pagada. Se invierte solo cuando ya se pagó sola.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texture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EL SIGUIENTE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15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Una prueba con sus propios 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Cuatro pasos para decidir con números en la mano, no con promesas.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2286000"/>
            <a:ext cx="2468880" cy="301752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468880"/>
            <a:ext cx="91440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200" b="1" i="0">
                <a:solidFill>
                  <a:srgbClr val="20D6E7"/>
                </a:solidFill>
                <a:latin typeface="Aptos"/>
              </a:rPr>
              <a:t>01</a:t>
            </a:r>
          </a:p>
        </p:txBody>
      </p:sp>
      <p:sp>
        <p:nvSpPr>
          <p:cNvPr id="29" name="Oval 28"/>
          <p:cNvSpPr/>
          <p:nvPr/>
        </p:nvSpPr>
        <p:spPr>
          <a:xfrm>
            <a:off x="2194560" y="2404872"/>
            <a:ext cx="640080" cy="64008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Handshak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580" y="2564892"/>
            <a:ext cx="320040" cy="320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400" y="3566160"/>
            <a:ext cx="2011680" cy="4114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SENTARNOS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069080"/>
            <a:ext cx="2011680" cy="10058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AFC3D6"/>
                </a:solidFill>
                <a:latin typeface="Aptos"/>
              </a:rPr>
              <a:t>Ver qué fraudes les duelen más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145536" y="3639312"/>
            <a:ext cx="256032" cy="256032"/>
          </a:xfrm>
          <a:prstGeom prst="rightArrow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47287" y="2286000"/>
            <a:ext cx="2468880" cy="301752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21607" y="2468880"/>
            <a:ext cx="91440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200" b="1" i="0">
                <a:solidFill>
                  <a:srgbClr val="F263A5"/>
                </a:solidFill>
                <a:latin typeface="Aptos"/>
              </a:rPr>
              <a:t>02</a:t>
            </a:r>
          </a:p>
        </p:txBody>
      </p:sp>
      <p:sp>
        <p:nvSpPr>
          <p:cNvPr id="36" name="Oval 35"/>
          <p:cNvSpPr/>
          <p:nvPr/>
        </p:nvSpPr>
        <p:spPr>
          <a:xfrm>
            <a:off x="5001768" y="2404872"/>
            <a:ext cx="640080" cy="64008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26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aFlas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1788" y="2564892"/>
            <a:ext cx="320040" cy="3200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721607" y="3566160"/>
            <a:ext cx="2011680" cy="4114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PROBAR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21607" y="4069080"/>
            <a:ext cx="2011680" cy="10058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AFC3D6"/>
                </a:solidFill>
                <a:latin typeface="Aptos"/>
              </a:rPr>
              <a:t>Con casos que ustedes ya conocen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952744" y="3639312"/>
            <a:ext cx="256032" cy="256032"/>
          </a:xfrm>
          <a:prstGeom prst="rightArrow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54496" y="2286000"/>
            <a:ext cx="2468880" cy="301752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2468880"/>
            <a:ext cx="91440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200" b="1" i="0">
                <a:solidFill>
                  <a:srgbClr val="FFBF66"/>
                </a:solidFill>
                <a:latin typeface="Aptos"/>
              </a:rPr>
              <a:t>03</a:t>
            </a:r>
          </a:p>
        </p:txBody>
      </p:sp>
      <p:sp>
        <p:nvSpPr>
          <p:cNvPr id="43" name="Oval 42"/>
          <p:cNvSpPr/>
          <p:nvPr/>
        </p:nvSpPr>
        <p:spPr>
          <a:xfrm>
            <a:off x="7808976" y="2404872"/>
            <a:ext cx="640080" cy="64008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aLock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8996" y="2564892"/>
            <a:ext cx="320040" cy="3200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28816" y="3566160"/>
            <a:ext cx="2011680" cy="4114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CONECTAR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28816" y="4069080"/>
            <a:ext cx="2011680" cy="10058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AFC3D6"/>
                </a:solidFill>
                <a:latin typeface="Aptos"/>
              </a:rPr>
              <a:t>Con sus controles de seguridad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8759952" y="3639312"/>
            <a:ext cx="256032" cy="256032"/>
          </a:xfrm>
          <a:prstGeom prst="rightArrow">
            <a:avLst/>
          </a:prstGeom>
          <a:solidFill>
            <a:srgbClr val="20D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061703" y="2286000"/>
            <a:ext cx="2468880" cy="3017520"/>
          </a:xfrm>
          <a:prstGeom prst="roundRect">
            <a:avLst>
              <a:gd name="adj" fmla="val 12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36024" y="2468880"/>
            <a:ext cx="91440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2200" b="1" i="0">
                <a:solidFill>
                  <a:srgbClr val="20D6E7"/>
                </a:solidFill>
                <a:latin typeface="Aptos"/>
              </a:rPr>
              <a:t>04</a:t>
            </a:r>
          </a:p>
        </p:txBody>
      </p:sp>
      <p:sp>
        <p:nvSpPr>
          <p:cNvPr id="50" name="Oval 49"/>
          <p:cNvSpPr/>
          <p:nvPr/>
        </p:nvSpPr>
        <p:spPr>
          <a:xfrm>
            <a:off x="10616183" y="2404872"/>
            <a:ext cx="640080" cy="640080"/>
          </a:xfrm>
          <a:prstGeom prst="ellipse">
            <a:avLst/>
          </a:prstGeom>
          <a:solidFill>
            <a:srgbClr val="12304F"/>
          </a:solidFill>
          <a:ln w="19050">
            <a:solidFill>
              <a:srgbClr val="20D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FaChartLine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76203" y="2564892"/>
            <a:ext cx="320040" cy="32004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36024" y="3566160"/>
            <a:ext cx="2011680" cy="41148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CONTAR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36024" y="4069080"/>
            <a:ext cx="2011680" cy="10058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500" b="0" i="0">
                <a:solidFill>
                  <a:srgbClr val="AFC3D6"/>
                </a:solidFill>
                <a:latin typeface="Aptos"/>
              </a:rPr>
              <a:t>Fraudes encontrados y falsas alarmas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FC3D6"/>
                </a:solidFill>
                <a:latin typeface="Aptos"/>
              </a:rPr>
              <a:t>Al final, </a:t>
            </a:r>
            <a:r>
              <a:rPr sz="1800" b="1" i="0">
                <a:solidFill>
                  <a:srgbClr val="FFBF66"/>
                </a:solidFill>
                <a:latin typeface="Aptos"/>
              </a:rPr>
              <a:t>ustedes deciden con números en la mano.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7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40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texture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16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Ese grupo ya no se puede esconder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Volvamos a la pregunta del inicio: ¿cuánta plata se les está yendo sin que nadie lo vea?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286000"/>
            <a:ext cx="5349240" cy="777240"/>
          </a:xfrm>
          <a:prstGeom prst="roundRect">
            <a:avLst>
              <a:gd name="adj" fmla="val 3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ircleCheck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2596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2441448"/>
            <a:ext cx="43891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Ven el círculo de plata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86000"/>
            <a:ext cx="5349240" cy="777240"/>
          </a:xfrm>
          <a:prstGeom prst="roundRect">
            <a:avLst>
              <a:gd name="adj" fmla="val 3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CircleCheck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48259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95160" y="2441448"/>
            <a:ext cx="43891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Ven el celular que comparten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5349240" cy="777240"/>
          </a:xfrm>
          <a:prstGeom prst="roundRect">
            <a:avLst>
              <a:gd name="adj" fmla="val 3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aCircleCheck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42715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63040" y="3401568"/>
            <a:ext cx="43891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Ven quién hace de puente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246120"/>
            <a:ext cx="5349240" cy="777240"/>
          </a:xfrm>
          <a:prstGeom prst="roundRect">
            <a:avLst>
              <a:gd name="adj" fmla="val 30000"/>
            </a:avLst>
          </a:prstGeom>
          <a:solidFill>
            <a:srgbClr val="0B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CircleCheck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3442715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95160" y="3401568"/>
            <a:ext cx="438912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AFF"/>
                </a:solidFill>
                <a:latin typeface="Aptos"/>
              </a:rPr>
              <a:t>Saben por dónde empezar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10881360" cy="1554480"/>
          </a:xfrm>
          <a:prstGeom prst="roundRect">
            <a:avLst>
              <a:gd name="adj" fmla="val 15000"/>
            </a:avLst>
          </a:prstGeom>
          <a:solidFill>
            <a:srgbClr val="12304F"/>
          </a:solidFill>
          <a:ln w="15875">
            <a:solidFill>
              <a:srgbClr val="FFB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526280"/>
            <a:ext cx="10149840" cy="11887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F5FAFF"/>
                </a:solidFill>
                <a:latin typeface="Aptos"/>
              </a:rPr>
              <a:t>Empezar no les cuesta licencias.</a:t>
            </a:r>
          </a:p>
          <a:p>
            <a:pPr algn="ctr"/>
            <a:r>
              <a:rPr sz="2800" b="1" i="0">
                <a:solidFill>
                  <a:srgbClr val="FFBF66"/>
                </a:solidFill>
                <a:latin typeface="Aptos"/>
              </a:rPr>
              <a:t>Seguir sin verlo, sí les cuesta. Todos los días.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exture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65760"/>
            <a:ext cx="438912" cy="50292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37744"/>
            <a:ext cx="8229600" cy="32918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0D6E7"/>
                </a:solidFill>
                <a:latin typeface="Aptos"/>
              </a:defRPr>
            </a:pPr>
            <a:r>
              <a:t>FRAUDELINK  / 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292608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AFC3D6"/>
                </a:solidFill>
                <a:latin typeface="Aptos"/>
              </a:defRPr>
            </a:pPr>
            <a:r>
              <a:t>17 / 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28816"/>
            <a:ext cx="11247120" cy="0"/>
          </a:xfrm>
          <a:prstGeom prst="line">
            <a:avLst/>
          </a:prstGeom>
          <a:ln w="10160">
            <a:solidFill>
              <a:srgbClr val="31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" y="6574536"/>
            <a:ext cx="6400800" cy="17373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FC3D6"/>
                </a:solidFill>
                <a:latin typeface="Aptos"/>
              </a:defRPr>
            </a:pPr>
            <a:r>
              <a:t>FRAUDELINK  •  PROPUESTA EJECUTIVA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49808"/>
            <a:ext cx="10972800" cy="93268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5FAFF"/>
                </a:solidFill>
                <a:latin typeface="Aptos"/>
              </a:defRPr>
            </a:pPr>
            <a:r>
              <a:t>FRAUDELINK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10881360" cy="5760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AFC3D6"/>
                </a:solidFill>
                <a:latin typeface="Aptos"/>
              </a:defRPr>
            </a:pPr>
            <a:r>
              <a:t>El fraude se esconde en las conexiones.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48840"/>
            <a:ext cx="10789920" cy="7315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5FAFF"/>
                </a:solidFill>
                <a:latin typeface="Aptos"/>
              </a:defRPr>
            </a:pPr>
            <a:r>
              <a:t>Nosotros se las ponemos a la vista.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218688"/>
            <a:ext cx="10789920" cy="64008"/>
          </a:xfrm>
          <a:prstGeom prst="rect">
            <a:avLst/>
          </a:prstGeom>
          <a:solidFill>
            <a:srgbClr val="20D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7"/>
            <a:ext cx="1828800" cy="3474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0D6E7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96512"/>
            <a:ext cx="10789920" cy="17373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spcAft>
                <a:spcPts val="400"/>
              </a:spcAft>
              <a:defRPr sz="1800" b="0">
                <a:solidFill>
                  <a:srgbClr val="F5FAFF"/>
                </a:solidFill>
                <a:latin typeface="Aptos"/>
              </a:defRPr>
            </a:pPr>
            <a:r>
              <a:t>Laura Obando Esquivel</a:t>
            </a:r>
          </a:p>
          <a:p>
            <a:pPr>
              <a:spcAft>
                <a:spcPts val="400"/>
              </a:spcAft>
              <a:defRPr sz="1800" b="0">
                <a:solidFill>
                  <a:srgbClr val="F5FAFF"/>
                </a:solidFill>
                <a:latin typeface="Aptos"/>
              </a:defRPr>
            </a:pPr>
            <a:r>
              <a:t>Camila Mendoza Ramírez</a:t>
            </a:r>
          </a:p>
          <a:p>
            <a:pPr>
              <a:spcAft>
                <a:spcPts val="400"/>
              </a:spcAft>
              <a:defRPr sz="1800" b="0">
                <a:solidFill>
                  <a:srgbClr val="F5FAFF"/>
                </a:solidFill>
                <a:latin typeface="Aptos"/>
              </a:defRPr>
            </a:pPr>
            <a:r>
              <a:t>Jimena Ramírez Zamora</a:t>
            </a:r>
          </a:p>
          <a:p>
            <a:pPr>
              <a:spcAft>
                <a:spcPts val="400"/>
              </a:spcAft>
              <a:defRPr sz="1800" b="0">
                <a:solidFill>
                  <a:srgbClr val="F5FAFF"/>
                </a:solidFill>
                <a:latin typeface="Aptos"/>
              </a:defRPr>
            </a:pPr>
            <a:r>
              <a:t>Alex Díaz Sancho</a:t>
            </a:r>
          </a:p>
          <a:p>
            <a:pPr>
              <a:spcAft>
                <a:spcPts val="400"/>
              </a:spcAft>
              <a:defRPr sz="1800" b="0">
                <a:solidFill>
                  <a:srgbClr val="F5FAFF"/>
                </a:solidFill>
                <a:latin typeface="Aptos"/>
              </a:defRPr>
            </a:pPr>
            <a:r>
              <a:t>Fabián Almirall Marchena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069080"/>
            <a:ext cx="4572000" cy="146304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3000" b="1" i="0">
                <a:solidFill>
                  <a:srgbClr val="20D6E7"/>
                </a:solidFill>
                <a:latin typeface="Aptos"/>
              </a:rPr>
              <a:t>¡Muchas gracias!</a:t>
            </a:r>
          </a:p>
          <a:p>
            <a:pPr algn="r">
              <a:spcAft>
                <a:spcPts val="600"/>
              </a:spcAft>
            </a:pPr>
            <a:r>
              <a:rPr sz="1600" b="0" i="0">
                <a:solidFill>
                  <a:srgbClr val="AFC3D6"/>
                </a:solidFill>
                <a:latin typeface="Aptos"/>
              </a:rPr>
              <a:t>Con gusto respondemos sus preguntas.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1241</Words>
  <Application>Microsoft Office PowerPoint</Application>
  <PresentationFormat>Panorámica</PresentationFormat>
  <Paragraphs>188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Cami Mendoza</dc:creator>
  <cp:keywords/>
  <dc:description>generated using python-pptx</dc:description>
  <cp:lastModifiedBy>CAMILA DE LOS ANGELE MENDOZA RAMIREZ</cp:lastModifiedBy>
  <cp:revision>4</cp:revision>
  <dcterms:created xsi:type="dcterms:W3CDTF">2013-01-27T09:14:16Z</dcterms:created>
  <dcterms:modified xsi:type="dcterms:W3CDTF">2026-10-11T21:52:47Z</dcterms:modified>
  <cp:category/>
</cp:coreProperties>
</file>